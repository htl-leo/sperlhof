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34"/>
  </p:notesMasterIdLst>
  <p:handoutMasterIdLst>
    <p:handoutMasterId r:id="rId35"/>
  </p:handoutMasterIdLst>
  <p:sldIdLst>
    <p:sldId id="1350" r:id="rId2"/>
    <p:sldId id="1374" r:id="rId3"/>
    <p:sldId id="1360" r:id="rId4"/>
    <p:sldId id="1373" r:id="rId5"/>
    <p:sldId id="1370" r:id="rId6"/>
    <p:sldId id="1358" r:id="rId7"/>
    <p:sldId id="1362" r:id="rId8"/>
    <p:sldId id="1363" r:id="rId9"/>
    <p:sldId id="1364" r:id="rId10"/>
    <p:sldId id="1359" r:id="rId11"/>
    <p:sldId id="1368" r:id="rId12"/>
    <p:sldId id="1380" r:id="rId13"/>
    <p:sldId id="1381" r:id="rId14"/>
    <p:sldId id="1361" r:id="rId15"/>
    <p:sldId id="1375" r:id="rId16"/>
    <p:sldId id="1376" r:id="rId17"/>
    <p:sldId id="1377" r:id="rId18"/>
    <p:sldId id="1378" r:id="rId19"/>
    <p:sldId id="1379" r:id="rId20"/>
    <p:sldId id="1349" r:id="rId21"/>
    <p:sldId id="1382" r:id="rId22"/>
    <p:sldId id="1355" r:id="rId23"/>
    <p:sldId id="1356" r:id="rId24"/>
    <p:sldId id="1357" r:id="rId25"/>
    <p:sldId id="1371" r:id="rId26"/>
    <p:sldId id="1372" r:id="rId27"/>
    <p:sldId id="1383" r:id="rId28"/>
    <p:sldId id="1384" r:id="rId29"/>
    <p:sldId id="1385" r:id="rId30"/>
    <p:sldId id="1387" r:id="rId31"/>
    <p:sldId id="1388" r:id="rId32"/>
    <p:sldId id="1386" r:id="rId33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17.02.2026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17.02.2026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b="1" dirty="0"/>
              <a:t>Optimierungstipp in </a:t>
            </a:r>
            <a:r>
              <a:rPr lang="de-AT" b="1" dirty="0" err="1"/>
              <a:t>Proxmox</a:t>
            </a:r>
            <a:r>
              <a:rPr lang="de-AT" b="1" dirty="0"/>
              <a:t>:</a:t>
            </a:r>
            <a:r>
              <a:rPr lang="de-AT" dirty="0"/>
              <a:t> Gehe in </a:t>
            </a:r>
            <a:r>
              <a:rPr lang="de-AT" dirty="0" err="1"/>
              <a:t>Proxmox</a:t>
            </a:r>
            <a:r>
              <a:rPr lang="de-AT" dirty="0"/>
              <a:t> auf deine Home Assistant VM -&gt; </a:t>
            </a:r>
            <a:r>
              <a:rPr lang="de-AT" b="1" dirty="0"/>
              <a:t>Hardware</a:t>
            </a:r>
            <a:r>
              <a:rPr lang="de-AT" dirty="0"/>
              <a:t> -&gt; </a:t>
            </a:r>
            <a:r>
              <a:rPr lang="de-AT" b="1" dirty="0" err="1"/>
              <a:t>Processors</a:t>
            </a:r>
            <a:r>
              <a:rPr lang="de-AT" dirty="0"/>
              <a:t>.</a:t>
            </a:r>
          </a:p>
          <a:p>
            <a:r>
              <a:rPr lang="de-AT" dirty="0"/>
              <a:t>Stelle den </a:t>
            </a:r>
            <a:r>
              <a:rPr lang="de-AT" b="1" dirty="0"/>
              <a:t>Type</a:t>
            </a:r>
            <a:r>
              <a:rPr lang="de-AT" dirty="0"/>
              <a:t> auf 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host</a:t>
            </a:r>
            <a:r>
              <a:rPr lang="de-AT" dirty="0"/>
              <a:t> (statt </a:t>
            </a:r>
            <a:r>
              <a:rPr lang="de-A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kvm64</a:t>
            </a:r>
            <a:r>
              <a:rPr lang="de-AT" dirty="0"/>
              <a:t>). Das erlaubt der VM, die speziellen Befehlssätze deiner Mini-PC-CPU (wie AVX) direkt zu nutzen. Das macht </a:t>
            </a:r>
            <a:r>
              <a:rPr lang="de-AT" dirty="0" err="1"/>
              <a:t>Whisper</a:t>
            </a:r>
            <a:r>
              <a:rPr lang="de-AT" dirty="0"/>
              <a:t> und Piper deutlich schneller!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89477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--- Konfiguration ---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PythonVersion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"3.11"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esphome_env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ProjectDir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-Location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Write-Host "---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ESPHome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Environment Setup 2026 ---" -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ForegroundColor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Cyan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1. Prüfen, ob Python installiert ist</a:t>
            </a: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(!(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-Command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ErrorAction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SilentlyContinue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Write-Error "Python wurde nicht gefunden. Bitte installiere Python 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PythonVersion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2. Virtuelle Umgebung erstellen</a:t>
            </a: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(!(Test-Path 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Write-Host "Erstelle virtuelles Environment: 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 -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ForegroundColor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Yellow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venv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EnvName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Write-Host "Environment existiert bereits." -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ForegroundColor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Green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3. Pfad zum Aktivierungs-Skript setzen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ActivateScript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-Path 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ProjectDir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\Scripts\Activate.ps1"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4. Umgebung aktivieren und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ESPHome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installieren/updaten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Write-Host "Aktiviere Umgebung und installiere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ESPHome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 -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ForegroundColor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Yellow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ActivateScript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Pip upgraden</a:t>
            </a: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--upgrade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</a:t>
            </a: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ESPHome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installieren (Version 2026.2.0 oder aktuellste)</a:t>
            </a:r>
          </a:p>
          <a:p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esphome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==2026.2.0</a:t>
            </a:r>
          </a:p>
          <a:p>
            <a:b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Write-Host "`n--- FERTIG ---" -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ForegroundColor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Green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Write-Host "Nutze zum Starten der Umgebung: .\$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EnvName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\Scripts\Activate.ps1"</a:t>
            </a:r>
          </a:p>
          <a:p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Write-Host "Danach kannst du '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esphome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tippen." -</a:t>
            </a:r>
            <a:r>
              <a:rPr lang="de-AT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ForegroundColor</a:t>
            </a:r>
            <a:r>
              <a:rPr lang="de-AT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Gray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4888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alDeco/xiaozhi-esphome/tree/main?tab=readme-ov-file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me-assistant.io/voice_control/troubleshooting/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67AA0-F426-9554-F2E6-984763AC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Lokale Sprachsteuerung mit AI-Box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79C78B-0CFD-4696-E947-5A921B8EE6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2023 war „Year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Voice“</a:t>
            </a:r>
          </a:p>
          <a:p>
            <a:pPr lvl="1"/>
            <a:r>
              <a:rPr lang="de-AT" dirty="0"/>
              <a:t>War eher holprig</a:t>
            </a:r>
          </a:p>
          <a:p>
            <a:pPr lvl="1"/>
            <a:r>
              <a:rPr lang="de-AT" dirty="0"/>
              <a:t>Mittlerweile gibt es mehrere HW-Lösungen</a:t>
            </a:r>
          </a:p>
          <a:p>
            <a:pPr lvl="2"/>
            <a:r>
              <a:rPr lang="de-AT" dirty="0"/>
              <a:t>Alle auf Basis von ESP32-S3</a:t>
            </a:r>
          </a:p>
          <a:p>
            <a:pPr lvl="1"/>
            <a:r>
              <a:rPr lang="de-AT" dirty="0"/>
              <a:t>13€ Lösung</a:t>
            </a:r>
          </a:p>
          <a:p>
            <a:pPr lvl="1"/>
            <a:r>
              <a:rPr lang="en-US" dirty="0"/>
              <a:t>Nabu Casa Home Assistant Voice</a:t>
            </a:r>
          </a:p>
          <a:p>
            <a:pPr lvl="1"/>
            <a:r>
              <a:rPr lang="it-IT" dirty="0" err="1"/>
              <a:t>XiaoZhi</a:t>
            </a:r>
            <a:r>
              <a:rPr lang="it-IT" dirty="0"/>
              <a:t> AI Voice Chat </a:t>
            </a:r>
            <a:r>
              <a:rPr lang="it-IT" dirty="0" err="1"/>
              <a:t>Roboter</a:t>
            </a:r>
            <a:endParaRPr lang="it-IT" dirty="0"/>
          </a:p>
          <a:p>
            <a:r>
              <a:rPr lang="it-IT" dirty="0" err="1"/>
              <a:t>Immer</a:t>
            </a:r>
            <a:r>
              <a:rPr lang="it-IT" dirty="0"/>
              <a:t> </a:t>
            </a:r>
            <a:r>
              <a:rPr lang="it-IT" dirty="0" err="1"/>
              <a:t>noch</a:t>
            </a:r>
            <a:r>
              <a:rPr lang="it-IT" dirty="0"/>
              <a:t> </a:t>
            </a:r>
            <a:r>
              <a:rPr lang="it-IT" dirty="0" err="1"/>
              <a:t>mehr</a:t>
            </a:r>
            <a:r>
              <a:rPr lang="it-IT" dirty="0"/>
              <a:t> </a:t>
            </a:r>
            <a:r>
              <a:rPr lang="it-IT" dirty="0" err="1"/>
              <a:t>Spielerei</a:t>
            </a:r>
            <a:endParaRPr lang="en-US" dirty="0"/>
          </a:p>
          <a:p>
            <a:pPr lvl="1"/>
            <a:endParaRPr lang="de-AT" dirty="0"/>
          </a:p>
        </p:txBody>
      </p:sp>
      <p:pic>
        <p:nvPicPr>
          <p:cNvPr id="5" name="Grafik 4" descr="Ein Bild, das Küchenutensilien, Design enthält.&#10;&#10;KI-generierte Inhalte können fehlerhaft sein.">
            <a:extLst>
              <a:ext uri="{FF2B5EF4-FFF2-40B4-BE49-F238E27FC236}">
                <a16:creationId xmlns:a16="http://schemas.microsoft.com/office/drawing/2014/main" id="{9C50C361-8157-EB9A-D608-22E5F1B95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826" y="1352352"/>
            <a:ext cx="1008112" cy="852512"/>
          </a:xfrm>
          <a:prstGeom prst="rect">
            <a:avLst/>
          </a:prstGeom>
        </p:spPr>
      </p:pic>
      <p:pic>
        <p:nvPicPr>
          <p:cNvPr id="7" name="Grafik 6" descr="Ein Bild, das Kreis, Herdplatte, Elektronik, Gerät enthält.&#10;&#10;KI-generierte Inhalte können fehlerhaft sein.">
            <a:extLst>
              <a:ext uri="{FF2B5EF4-FFF2-40B4-BE49-F238E27FC236}">
                <a16:creationId xmlns:a16="http://schemas.microsoft.com/office/drawing/2014/main" id="{E7453676-08F9-D0C1-C61E-808DF3FC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996952"/>
            <a:ext cx="2430349" cy="184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5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AE4D80-9EC8-2D7D-2B86-A2CB553A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Chatbot Assist lokal testen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F9300C-8FC7-A38E-B74D-EE4930CB2B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/>
              <a:t>Ohne Sprach Ein/Ausgabe</a:t>
            </a:r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2C9A3C3-A4A4-2172-B7D3-8CEEF4BDA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060848"/>
            <a:ext cx="36766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2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59612-A836-BD79-25B1-7A153B96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Testen mit Assist-Konsole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17FFC3-526F-416C-012E-BC00DF01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052736"/>
            <a:ext cx="8207375" cy="4608165"/>
          </a:xfrm>
        </p:spPr>
        <p:txBody>
          <a:bodyPr/>
          <a:lstStyle/>
          <a:p>
            <a:r>
              <a:rPr lang="de-AT" dirty="0"/>
              <a:t>Sehr heikel</a:t>
            </a:r>
          </a:p>
        </p:txBody>
      </p:sp>
      <p:pic>
        <p:nvPicPr>
          <p:cNvPr id="7" name="Grafik 6" descr="Ein Bild, das Text, Elektronik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85E4BAA6-7125-CEB2-FE86-E5212CA07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2006699"/>
            <a:ext cx="479107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2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6CF95-97F1-0D13-CE13-6FFFFD0D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Vorbereitung – Home Assistant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BECBB8-6F0A-E078-47A9-65169131D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Integration Wyoming steuert Pipeline zur Sprachverarbeitung</a:t>
            </a:r>
          </a:p>
          <a:p>
            <a:r>
              <a:rPr lang="de-AT" dirty="0"/>
              <a:t>Pipeline</a:t>
            </a:r>
          </a:p>
          <a:p>
            <a:pPr lvl="1"/>
            <a:r>
              <a:rPr lang="de-AT" dirty="0" err="1"/>
              <a:t>openWakeWord</a:t>
            </a:r>
            <a:r>
              <a:rPr lang="de-AT" dirty="0"/>
              <a:t> erkennt </a:t>
            </a:r>
            <a:r>
              <a:rPr lang="de-AT" dirty="0" err="1"/>
              <a:t>Wakeword</a:t>
            </a:r>
            <a:endParaRPr lang="de-AT" dirty="0"/>
          </a:p>
          <a:p>
            <a:pPr lvl="2"/>
            <a:r>
              <a:rPr lang="de-AT" dirty="0"/>
              <a:t>Am Gerät (bei ESP32 nicht zu empfehlen)</a:t>
            </a:r>
          </a:p>
          <a:p>
            <a:pPr lvl="2"/>
            <a:r>
              <a:rPr lang="de-AT" dirty="0"/>
              <a:t>Wertet Audio-Stream aus</a:t>
            </a:r>
          </a:p>
          <a:p>
            <a:pPr lvl="1"/>
            <a:r>
              <a:rPr lang="de-AT" dirty="0" err="1"/>
              <a:t>Whisper</a:t>
            </a:r>
            <a:r>
              <a:rPr lang="de-AT" dirty="0"/>
              <a:t> übersetzt Sprache in Text</a:t>
            </a:r>
          </a:p>
          <a:p>
            <a:pPr lvl="2"/>
            <a:r>
              <a:rPr lang="de-AT" dirty="0"/>
              <a:t>Kritisches Element in der Kette</a:t>
            </a:r>
          </a:p>
          <a:p>
            <a:pPr lvl="1"/>
            <a:r>
              <a:rPr lang="de-AT" dirty="0"/>
              <a:t>Piper übersetzt Text in Sprache</a:t>
            </a:r>
          </a:p>
          <a:p>
            <a:pPr lvl="2"/>
            <a:r>
              <a:rPr lang="de-AT" dirty="0"/>
              <a:t>Sprachausgabe am Gerät</a:t>
            </a:r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50367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F87629-E7F1-1521-016F-9C1AECB5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OpenWakword</a:t>
            </a:r>
            <a:r>
              <a:rPr lang="de-AT" dirty="0"/>
              <a:t> als </a:t>
            </a:r>
            <a:r>
              <a:rPr lang="de-AT" dirty="0" err="1"/>
              <a:t>AddOn</a:t>
            </a:r>
            <a:r>
              <a:rPr lang="de-AT" dirty="0"/>
              <a:t>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421968-B972-AE93-D38C-F2011298F6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EA96BCB8-88F4-D59D-8A6E-39D7C3288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6330"/>
            <a:ext cx="9144000" cy="390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83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5DE44-450B-2A14-010C-CBC2B9C9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Whisper</a:t>
            </a:r>
            <a:r>
              <a:rPr lang="de-AT" dirty="0"/>
              <a:t> - Speech </a:t>
            </a:r>
            <a:r>
              <a:rPr lang="de-AT" dirty="0" err="1"/>
              <a:t>To</a:t>
            </a:r>
            <a:r>
              <a:rPr lang="de-AT" dirty="0"/>
              <a:t> Text</a:t>
            </a:r>
            <a:br>
              <a:rPr lang="de-AT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736E0A-6BC6-A5FF-88EC-12092346E6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endParaRPr lang="de-AT" dirty="0"/>
          </a:p>
        </p:txBody>
      </p:sp>
      <p:pic>
        <p:nvPicPr>
          <p:cNvPr id="7" name="Grafik 6" descr="Ein Bild, das Text, Screenshot, Zahl, parallel enthält.&#10;&#10;KI-generierte Inhalte können fehlerhaft sein.">
            <a:extLst>
              <a:ext uri="{FF2B5EF4-FFF2-40B4-BE49-F238E27FC236}">
                <a16:creationId xmlns:a16="http://schemas.microsoft.com/office/drawing/2014/main" id="{53628CD2-A24B-BC9E-9443-0F00CF56F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925815"/>
            <a:ext cx="6809383" cy="590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1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EE1A44-D6EB-B470-ED7C-B9ACD0B6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Whisper</a:t>
            </a:r>
            <a:r>
              <a:rPr lang="de-AT" dirty="0"/>
              <a:t> Log - </a:t>
            </a:r>
            <a:r>
              <a:rPr lang="de-AT" dirty="0" err="1"/>
              <a:t>Warning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A35789-567E-F089-4B44-7B7247C656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0" y="1052736"/>
            <a:ext cx="8207375" cy="4608165"/>
          </a:xfrm>
        </p:spPr>
        <p:txBody>
          <a:bodyPr/>
          <a:lstStyle/>
          <a:p>
            <a:r>
              <a:rPr lang="de-AT" dirty="0"/>
              <a:t>VM unterstützt AVX nicht </a:t>
            </a:r>
            <a:r>
              <a:rPr lang="de-AT" dirty="0">
                <a:sym typeface="Wingdings" panose="05000000000000000000" pitchFamily="2" charset="2"/>
              </a:rPr>
              <a:t> Host-Mode</a:t>
            </a:r>
            <a:endParaRPr lang="de-AT" dirty="0"/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B4B6FD88-2D13-6C58-FCF0-64360B54F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05" y="1712992"/>
            <a:ext cx="6876256" cy="409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94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707B87-4F8B-980A-4A1F-6AC9F967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VM in </a:t>
            </a:r>
            <a:r>
              <a:rPr lang="de-AT" dirty="0" err="1"/>
              <a:t>Proxmox</a:t>
            </a:r>
            <a:r>
              <a:rPr lang="de-AT" dirty="0"/>
              <a:t> auf Host umstellen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6254D3-C03A-9B4B-8422-035E630B5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5" name="Grafik 4" descr="Ein Bild, das Text, Schrift, Zahl, Screenshot enthält.&#10;&#10;KI-generierte Inhalte können fehlerhaft sein.">
            <a:extLst>
              <a:ext uri="{FF2B5EF4-FFF2-40B4-BE49-F238E27FC236}">
                <a16:creationId xmlns:a16="http://schemas.microsoft.com/office/drawing/2014/main" id="{E20DF211-4013-70B6-0505-C04A151F2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84" y="1273887"/>
            <a:ext cx="9144000" cy="208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5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6D216-5992-56A2-348A-6C8F115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Warning</a:t>
            </a:r>
            <a:r>
              <a:rPr lang="de-AT" dirty="0"/>
              <a:t> verschwindet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7C1574-AF50-6D1D-B3C2-B01938A0D0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2D2AFDA6-3B87-C950-591D-A38FD41E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413"/>
            <a:ext cx="9144000" cy="293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8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C323E9-8BE5-12D6-4254-D01C9FCBB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Text </a:t>
            </a:r>
            <a:r>
              <a:rPr lang="de-AT" dirty="0" err="1"/>
              <a:t>To</a:t>
            </a:r>
            <a:r>
              <a:rPr lang="de-AT" dirty="0"/>
              <a:t> Speech - Piper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966780-3F34-4FEE-BDC1-407717EF2D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Zahl, Software enthält.&#10;&#10;KI-generierte Inhalte können fehlerhaft sein.">
            <a:extLst>
              <a:ext uri="{FF2B5EF4-FFF2-40B4-BE49-F238E27FC236}">
                <a16:creationId xmlns:a16="http://schemas.microsoft.com/office/drawing/2014/main" id="{D8AB4B7A-F961-D55F-F26E-BCD666582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302157"/>
            <a:ext cx="6007770" cy="484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0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883FA2-7765-8FEC-DDA4-A04F1081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Wyoming Integration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D51CFD-9F60-7C42-FB12-D19A29E69F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0" y="1052736"/>
            <a:ext cx="8207375" cy="4608165"/>
          </a:xfrm>
        </p:spPr>
        <p:txBody>
          <a:bodyPr/>
          <a:lstStyle/>
          <a:p>
            <a:r>
              <a:rPr lang="de-AT" sz="2400" dirty="0"/>
              <a:t>Zwei mal anlegen</a:t>
            </a:r>
          </a:p>
          <a:p>
            <a:pPr lvl="1"/>
            <a:r>
              <a:rPr lang="de-AT" sz="2000" dirty="0" err="1"/>
              <a:t>core-whisper</a:t>
            </a:r>
            <a:r>
              <a:rPr lang="de-AT" sz="2000" dirty="0"/>
              <a:t> mit 10300</a:t>
            </a:r>
          </a:p>
          <a:p>
            <a:pPr lvl="1"/>
            <a:r>
              <a:rPr lang="de-AT" sz="2000" dirty="0" err="1"/>
              <a:t>core</a:t>
            </a:r>
            <a:r>
              <a:rPr lang="de-AT" sz="2000" dirty="0"/>
              <a:t>-piper mit 10200</a:t>
            </a:r>
          </a:p>
          <a:p>
            <a:pPr lvl="1"/>
            <a:r>
              <a:rPr lang="de-AT" sz="2000" dirty="0" err="1"/>
              <a:t>core-openwakeword</a:t>
            </a:r>
            <a:r>
              <a:rPr lang="de-AT" sz="2000" dirty="0"/>
              <a:t> mit 10400</a:t>
            </a:r>
          </a:p>
          <a:p>
            <a:pPr lvl="1"/>
            <a:endParaRPr lang="de-AT" sz="2000" dirty="0"/>
          </a:p>
          <a:p>
            <a:r>
              <a:rPr lang="de-AT" sz="2400" dirty="0"/>
              <a:t>Keine Integrationen für </a:t>
            </a:r>
            <a:r>
              <a:rPr lang="de-AT" sz="2400" dirty="0" err="1"/>
              <a:t>Whisper</a:t>
            </a:r>
            <a:r>
              <a:rPr lang="de-AT" sz="2400" dirty="0"/>
              <a:t> und Piper anlegen</a:t>
            </a:r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09700821-B341-358E-7FE3-C9785738E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697762"/>
            <a:ext cx="5400600" cy="289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27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BB790-3A4E-7C90-C854-2130AF65B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Pipeline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13722D-3ECD-2649-D2E3-9D93BCE70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Bestehenden anpassen oder neuen hinzufügen</a:t>
            </a:r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CB8ADE9E-EEDB-3C22-5EEB-5BA19F26A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1988840"/>
            <a:ext cx="776287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2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672CB-8027-A504-E54A-DC7710271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Alles zusammenfügen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87768-AC76-9FEA-8221-8B7538B2FB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76B6913-6CF9-5E23-7D22-1CF2E9D70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981075"/>
            <a:ext cx="4305300" cy="5143500"/>
          </a:xfrm>
          <a:prstGeom prst="rect">
            <a:avLst/>
          </a:prstGeom>
        </p:spPr>
      </p:pic>
      <p:pic>
        <p:nvPicPr>
          <p:cNvPr id="7" name="Grafik 6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CE22CC55-101C-3D4D-4C1C-4792C6346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81075"/>
            <a:ext cx="443865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20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55EC5-A7DB-295A-B71F-6E72CF1D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Vorbereitung der </a:t>
            </a:r>
            <a:r>
              <a:rPr lang="de-AT" dirty="0" err="1"/>
              <a:t>Entities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8EFDB2-C7D6-B4EC-F442-B6215CA821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/>
              <a:t>Area richtig zugeordnet</a:t>
            </a:r>
          </a:p>
          <a:p>
            <a:r>
              <a:rPr lang="de-AT" sz="2400" dirty="0"/>
              <a:t>Attribute richtig gesetzt</a:t>
            </a:r>
            <a:br>
              <a:rPr lang="de-AT" sz="2400" dirty="0"/>
            </a:br>
            <a:endParaRPr lang="de-AT" sz="2400" dirty="0"/>
          </a:p>
          <a:p>
            <a:endParaRPr lang="de-AT" sz="2400" dirty="0"/>
          </a:p>
          <a:p>
            <a:endParaRPr lang="de-AT" sz="2400" dirty="0"/>
          </a:p>
          <a:p>
            <a:endParaRPr lang="de-AT" sz="2400" dirty="0"/>
          </a:p>
          <a:p>
            <a:r>
              <a:rPr lang="de-AT" sz="2400" dirty="0"/>
              <a:t>Für Sprachassistenten freigegeben und Aliase gesetzt</a:t>
            </a:r>
          </a:p>
        </p:txBody>
      </p:sp>
      <p:pic>
        <p:nvPicPr>
          <p:cNvPr id="5" name="Grafik 4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5736E3C5-0FCA-2E37-EA66-637CF40EC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193471"/>
            <a:ext cx="8553450" cy="1400175"/>
          </a:xfrm>
          <a:prstGeom prst="rect">
            <a:avLst/>
          </a:prstGeom>
        </p:spPr>
      </p:pic>
      <p:pic>
        <p:nvPicPr>
          <p:cNvPr id="7" name="Grafik 6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7384302-B377-303C-9A25-D78689028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5" y="4284890"/>
            <a:ext cx="5184576" cy="25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81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6A8671-789C-D46A-DA52-9ECB5CD6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 </a:t>
            </a:r>
            <a:r>
              <a:rPr lang="de-AT" dirty="0" err="1"/>
              <a:t>EspHome</a:t>
            </a:r>
            <a:r>
              <a:rPr lang="de-AT" dirty="0"/>
              <a:t> – Attribute setzen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7A4D28-D8BF-9E67-F5AA-C15408978A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73CDBF1F-D700-26F3-1A23-DEF46224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586684"/>
            <a:ext cx="4248472" cy="36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31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29E1D-AB0F-E9D7-E1CA-10903E7F8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AI-Box als Sprachassistent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8EDF9A-EB27-576F-65C1-3DE393A2B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Tolles Projekt von </a:t>
            </a:r>
            <a:r>
              <a:rPr lang="de-AT" dirty="0" err="1"/>
              <a:t>RealDeco</a:t>
            </a:r>
            <a:endParaRPr lang="de-AT" dirty="0"/>
          </a:p>
          <a:p>
            <a:pPr lvl="1"/>
            <a:r>
              <a:rPr lang="de-AT" dirty="0">
                <a:hlinkClick r:id="rId2"/>
              </a:rPr>
              <a:t>https://github.com/RealDeco/xiaozhi-esphome/tree/main?tab=readme-ov-file</a:t>
            </a:r>
            <a:r>
              <a:rPr lang="de-AT" dirty="0"/>
              <a:t> </a:t>
            </a:r>
          </a:p>
          <a:p>
            <a:r>
              <a:rPr lang="de-AT" dirty="0"/>
              <a:t>Lokal mit </a:t>
            </a:r>
            <a:r>
              <a:rPr lang="de-AT" dirty="0" err="1"/>
              <a:t>EspHome</a:t>
            </a:r>
            <a:r>
              <a:rPr lang="de-AT" dirty="0"/>
              <a:t> </a:t>
            </a:r>
            <a:r>
              <a:rPr lang="de-AT" dirty="0" err="1"/>
              <a:t>builden</a:t>
            </a:r>
            <a:endParaRPr lang="de-AT" dirty="0"/>
          </a:p>
          <a:p>
            <a:pPr lvl="1"/>
            <a:r>
              <a:rPr lang="de-AT" dirty="0"/>
              <a:t>Soundfiles herunter laden</a:t>
            </a:r>
          </a:p>
          <a:p>
            <a:pPr lvl="1"/>
            <a:r>
              <a:rPr lang="de-AT" dirty="0"/>
              <a:t>Einige Anpassungen notwendig</a:t>
            </a:r>
          </a:p>
          <a:p>
            <a:pPr lvl="2"/>
            <a:r>
              <a:rPr lang="de-AT" dirty="0"/>
              <a:t>Dank KI-Unterstützung kein Problem</a:t>
            </a:r>
          </a:p>
          <a:p>
            <a:r>
              <a:rPr lang="de-AT" dirty="0" err="1"/>
              <a:t>EspHome</a:t>
            </a:r>
            <a:r>
              <a:rPr lang="de-AT" dirty="0"/>
              <a:t> in virtuellem Environment verwenden</a:t>
            </a:r>
          </a:p>
          <a:p>
            <a:pPr lvl="1"/>
            <a:r>
              <a:rPr lang="de-AT" dirty="0"/>
              <a:t>Letzte </a:t>
            </a:r>
            <a:r>
              <a:rPr lang="de-AT" dirty="0" err="1"/>
              <a:t>Pythonversion</a:t>
            </a:r>
            <a:r>
              <a:rPr lang="de-AT" dirty="0"/>
              <a:t> funktioniert nicht</a:t>
            </a:r>
          </a:p>
        </p:txBody>
      </p:sp>
    </p:spTree>
    <p:extLst>
      <p:ext uri="{BB962C8B-B14F-4D97-AF65-F5344CB8AC3E}">
        <p14:creationId xmlns:p14="http://schemas.microsoft.com/office/powerpoint/2010/main" val="933313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3584FD-5BF4-435E-8E08-A273E0A9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 err="1"/>
              <a:t>EspHome</a:t>
            </a:r>
            <a:r>
              <a:rPr lang="de-AT" sz="2800" dirty="0"/>
              <a:t> – Virtuelles Environment erstellen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FAACE0-104F-A804-F655-847829DDB2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Skript zum Erstellen</a:t>
            </a:r>
          </a:p>
          <a:p>
            <a:pPr lvl="1"/>
            <a:r>
              <a:rPr lang="de-AT" dirty="0"/>
              <a:t>setup_esphome.ps1</a:t>
            </a:r>
          </a:p>
          <a:p>
            <a:r>
              <a:rPr lang="de-AT" dirty="0"/>
              <a:t>Start über Activate</a:t>
            </a:r>
          </a:p>
          <a:p>
            <a:pPr lvl="1"/>
            <a:r>
              <a:rPr lang="de-AT" dirty="0"/>
              <a:t>.\</a:t>
            </a:r>
            <a:r>
              <a:rPr lang="de-AT" dirty="0" err="1"/>
              <a:t>esphome_env</a:t>
            </a:r>
            <a:r>
              <a:rPr lang="de-AT" dirty="0"/>
              <a:t>\Scripts\Activate.ps1</a:t>
            </a:r>
          </a:p>
          <a:p>
            <a:r>
              <a:rPr lang="de-AT" dirty="0"/>
              <a:t>In eigentliches Projektverzeichnis gehen</a:t>
            </a:r>
          </a:p>
        </p:txBody>
      </p:sp>
    </p:spTree>
    <p:extLst>
      <p:ext uri="{BB962C8B-B14F-4D97-AF65-F5344CB8AC3E}">
        <p14:creationId xmlns:p14="http://schemas.microsoft.com/office/powerpoint/2010/main" val="3581620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D669A-07C6-2945-2EAA-3372A1E1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ESP32-App in VE </a:t>
            </a:r>
            <a:r>
              <a:rPr lang="de-AT" dirty="0" err="1"/>
              <a:t>builden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402FD2-8B64-5C4C-F55F-A423104768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B89C495C-1541-20B3-8117-97D4CA44D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9" y="1268413"/>
            <a:ext cx="8764262" cy="388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61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1539D4-BB87-E92F-468A-E77294349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in HA integrieren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706C51-C17B-D20A-A9DD-79D6A4733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56600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7CEA4B-2045-AAD7-2879-DA84026AC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Troubleshooting Assist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DED2C0-8363-E223-E8C2-14A5D89B63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https://www.home-assistant.io/voice_control/troubleshooting/</a:t>
            </a:r>
            <a:r>
              <a:rPr lang="de-A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2143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D6D67-2D63-56B7-06DE-3363D383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 Assist debuggen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8BD6EB-5919-0BEE-062B-0FC51029B8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052736"/>
            <a:ext cx="8207375" cy="4608165"/>
          </a:xfrm>
        </p:spPr>
        <p:txBody>
          <a:bodyPr/>
          <a:lstStyle/>
          <a:p>
            <a:r>
              <a:rPr lang="de-AT" sz="2400" dirty="0"/>
              <a:t>Was hat </a:t>
            </a:r>
            <a:r>
              <a:rPr lang="de-AT" sz="2400" dirty="0" err="1"/>
              <a:t>Whisper</a:t>
            </a:r>
            <a:r>
              <a:rPr lang="de-AT" sz="2400" dirty="0"/>
              <a:t> verstanden?</a:t>
            </a:r>
          </a:p>
          <a:p>
            <a:r>
              <a:rPr lang="de-AT" sz="2400" dirty="0"/>
              <a:t>Kann er mit dem Befehl was anfangen?</a:t>
            </a:r>
          </a:p>
          <a:p>
            <a:pPr lvl="1"/>
            <a:r>
              <a:rPr lang="de-AT" sz="2000" dirty="0"/>
              <a:t>Ohne LLM hat er eine sehr starre Satzerkennung</a:t>
            </a:r>
          </a:p>
          <a:p>
            <a:pPr lvl="1"/>
            <a:r>
              <a:rPr lang="de-AT" sz="2000" dirty="0"/>
              <a:t>Einbindung von ChatGPT oder </a:t>
            </a:r>
            <a:r>
              <a:rPr lang="de-AT" sz="2000" dirty="0" err="1"/>
              <a:t>Ollama</a:t>
            </a:r>
            <a:r>
              <a:rPr lang="de-AT" sz="2000" dirty="0"/>
              <a:t> ist möglich</a:t>
            </a:r>
          </a:p>
        </p:txBody>
      </p:sp>
      <p:pic>
        <p:nvPicPr>
          <p:cNvPr id="5" name="Grafik 4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63CBDA00-53B3-599F-9E34-7A9BDA222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6364136" cy="303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001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01208-577E-E383-0C83-6D4C46E3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52ED7E-562D-15CD-117D-8FBF0D6EF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58911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4854D-7780-8D1C-6A10-2B9E8A6E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Tuning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9A8E6B-E52A-ABB7-9862-79F0C025AB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Micro</a:t>
            </a:r>
          </a:p>
          <a:p>
            <a:pPr lvl="1"/>
            <a:r>
              <a:rPr lang="de-AT" dirty="0"/>
              <a:t>Verstärkung</a:t>
            </a:r>
          </a:p>
          <a:p>
            <a:r>
              <a:rPr lang="de-AT" dirty="0"/>
              <a:t>Satzanfänge</a:t>
            </a:r>
          </a:p>
        </p:txBody>
      </p:sp>
    </p:spTree>
    <p:extLst>
      <p:ext uri="{BB962C8B-B14F-4D97-AF65-F5344CB8AC3E}">
        <p14:creationId xmlns:p14="http://schemas.microsoft.com/office/powerpoint/2010/main" val="227250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676BA-592E-16B4-695A-859A4324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Verständnisprobleme am Satz-Beginn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66C7F0-74C5-A202-CD11-56E5BFAED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078955B1-C1C9-0939-3042-DCA5545BB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20" y="1556792"/>
            <a:ext cx="7361759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99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B3459-D5CE-DCCC-E7BB-BB9813B3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Spielerei mit der KI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43F87F-B329-C42E-D1F4-91119FFD4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Delay nach </a:t>
            </a:r>
            <a:r>
              <a:rPr lang="de-AT" dirty="0" err="1"/>
              <a:t>Wakeword</a:t>
            </a:r>
            <a:r>
              <a:rPr lang="de-AT" dirty="0"/>
              <a:t>-Erkennung reduzieren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A31D0BF-C97F-73D8-E8B8-72965357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44" y="2276872"/>
            <a:ext cx="7509726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34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EA10B7-6EE6-DAA4-00B8-964AAD37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1EF5AA-1960-36DF-7741-1386BF04E2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56414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B4A9C-3EB5-0569-E3E5-00CFB625B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Mit Open-AI </a:t>
            </a:r>
            <a:r>
              <a:rPr lang="de-AT" dirty="0" err="1"/>
              <a:t>Conversation</a:t>
            </a:r>
            <a:r>
              <a:rPr lang="de-AT" dirty="0"/>
              <a:t> Agent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08E315-0DB5-ADF6-7F64-98FBE782A1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Natürlichsprachliche Kommunikation mit HA</a:t>
            </a:r>
          </a:p>
          <a:p>
            <a:r>
              <a:rPr lang="de-AT" dirty="0"/>
              <a:t>Kann teuer werden, wenn der Kontext zu groß ist</a:t>
            </a:r>
          </a:p>
          <a:p>
            <a:pPr lvl="1"/>
            <a:r>
              <a:rPr lang="de-AT" dirty="0"/>
              <a:t>Sensoren und Aktoren für Assistenten mit Hausverstand auswählen</a:t>
            </a:r>
          </a:p>
          <a:p>
            <a:r>
              <a:rPr lang="de-AT" dirty="0"/>
              <a:t>Integration OpenAI installieren</a:t>
            </a:r>
          </a:p>
          <a:p>
            <a:r>
              <a:rPr lang="de-AT" dirty="0"/>
              <a:t>Integration konfigurieren</a:t>
            </a:r>
          </a:p>
          <a:p>
            <a:r>
              <a:rPr lang="de-AT" dirty="0"/>
              <a:t>Neuen Assistenten anlegen</a:t>
            </a:r>
          </a:p>
          <a:p>
            <a:r>
              <a:rPr lang="de-AT" dirty="0"/>
              <a:t>AI-Box mit neuem Assistenten verbinden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41087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FC8990-79CA-E6E6-A24A-08D0DB5B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OpenAI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9D4604-825A-5BEE-80B9-A9B079CFD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AI Task übernimmt die Sprachaufbereitung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EEFBC7C-FCF0-16F7-9C45-2E69BF95D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60" y="2204864"/>
            <a:ext cx="7092280" cy="398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4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C588DA-8DB8-8982-B8CF-E2916A22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Konfiguration - Prompt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A04026-1B2A-A064-0F0D-879A5F0706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3F7D9A8B-5777-EA7D-1836-5BF6AB583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55" y="1108831"/>
            <a:ext cx="4232216" cy="4928021"/>
          </a:xfrm>
          <a:prstGeom prst="rect">
            <a:avLst/>
          </a:prstGeom>
        </p:spPr>
      </p:pic>
      <p:pic>
        <p:nvPicPr>
          <p:cNvPr id="7" name="Grafik 6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C4ED4A42-4D5D-03F3-F44F-5EA4754FE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926" y="1772816"/>
            <a:ext cx="4326763" cy="479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1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112DA-1E22-1E05-66F5-538B30BDB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Neuer Sprachassistent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C40048-A228-9E07-B42D-4AB6C03144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53A23716-1CEB-51FA-D2A6-C8A047C24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58" y="1233128"/>
            <a:ext cx="4242426" cy="562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36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224FD3-0615-C56E-89F2-696EE4A3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AI-Box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92F29A-AA21-37D7-9463-926DAF9692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Zahl enthält.&#10;&#10;KI-generierte Inhalte können fehlerhaft sein.">
            <a:extLst>
              <a:ext uri="{FF2B5EF4-FFF2-40B4-BE49-F238E27FC236}">
                <a16:creationId xmlns:a16="http://schemas.microsoft.com/office/drawing/2014/main" id="{7CB79E20-EC19-BBAA-D10D-16AACF5E8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196752"/>
            <a:ext cx="5921018" cy="50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113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D31B6-394D-F961-507A-BF77B2A50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3C630E-A9F1-A9C8-5272-D2B409BD64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08145981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670</Words>
  <Application>Microsoft Office PowerPoint</Application>
  <PresentationFormat>Bildschirmpräsentation (4:3)</PresentationFormat>
  <Paragraphs>133</Paragraphs>
  <Slides>32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7" baseType="lpstr">
      <vt:lpstr>Arial</vt:lpstr>
      <vt:lpstr>Calibri</vt:lpstr>
      <vt:lpstr>Symbol</vt:lpstr>
      <vt:lpstr>Wingdings</vt:lpstr>
      <vt:lpstr>2_Larissa</vt:lpstr>
      <vt:lpstr>Lokale Sprachsteuerung mit AI-Box</vt:lpstr>
      <vt:lpstr>Chatbot Assist lokal testen</vt:lpstr>
      <vt:lpstr>Testen mit Assist-Konsole</vt:lpstr>
      <vt:lpstr>Vorbereitung – Home Assistant</vt:lpstr>
      <vt:lpstr>OpenWakword als AddOn installieren</vt:lpstr>
      <vt:lpstr>Whisper - Speech To Text </vt:lpstr>
      <vt:lpstr>Whisper Log - Warning</vt:lpstr>
      <vt:lpstr>VM in Proxmox auf Host umstellen</vt:lpstr>
      <vt:lpstr>Warning verschwindet</vt:lpstr>
      <vt:lpstr>Text To Speech - Piper</vt:lpstr>
      <vt:lpstr>Wyoming Integration installieren</vt:lpstr>
      <vt:lpstr>Pipeline konfigurieren</vt:lpstr>
      <vt:lpstr>Alles zusammenfügen</vt:lpstr>
      <vt:lpstr>Vorbereitung der Entities</vt:lpstr>
      <vt:lpstr>Bei EspHome – Attribute setzen</vt:lpstr>
      <vt:lpstr>AI-Box als Sprachassistent</vt:lpstr>
      <vt:lpstr>EspHome – Virtuelles Environment erstellen</vt:lpstr>
      <vt:lpstr>ESP32-App in VE builden</vt:lpstr>
      <vt:lpstr>Gerät in HA integrieren</vt:lpstr>
      <vt:lpstr>Troubleshooting Assist</vt:lpstr>
      <vt:lpstr>In Assist debuggen</vt:lpstr>
      <vt:lpstr>PowerPoint-Präsentation</vt:lpstr>
      <vt:lpstr>Tuning</vt:lpstr>
      <vt:lpstr>Verständnisprobleme am Satz-Beginn</vt:lpstr>
      <vt:lpstr>Spielerei mit der KI</vt:lpstr>
      <vt:lpstr>PowerPoint-Präsentation</vt:lpstr>
      <vt:lpstr>Mit Open-AI Conversation Agent</vt:lpstr>
      <vt:lpstr>Integration OpenAI</vt:lpstr>
      <vt:lpstr>Konfiguration - Prompt</vt:lpstr>
      <vt:lpstr>Neuer Sprachassistent</vt:lpstr>
      <vt:lpstr>AI-Box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905</cp:revision>
  <dcterms:created xsi:type="dcterms:W3CDTF">2011-08-18T07:37:01Z</dcterms:created>
  <dcterms:modified xsi:type="dcterms:W3CDTF">2026-02-19T18:49:26Z</dcterms:modified>
</cp:coreProperties>
</file>