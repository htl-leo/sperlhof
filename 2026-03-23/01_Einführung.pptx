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35"/>
  </p:notesMasterIdLst>
  <p:handoutMasterIdLst>
    <p:handoutMasterId r:id="rId36"/>
  </p:handoutMasterIdLst>
  <p:sldIdLst>
    <p:sldId id="1173" r:id="rId2"/>
    <p:sldId id="1184" r:id="rId3"/>
    <p:sldId id="1186" r:id="rId4"/>
    <p:sldId id="1188" r:id="rId5"/>
    <p:sldId id="1200" r:id="rId6"/>
    <p:sldId id="1158" r:id="rId7"/>
    <p:sldId id="1189" r:id="rId8"/>
    <p:sldId id="1159" r:id="rId9"/>
    <p:sldId id="1160" r:id="rId10"/>
    <p:sldId id="1144" r:id="rId11"/>
    <p:sldId id="1201" r:id="rId12"/>
    <p:sldId id="1168" r:id="rId13"/>
    <p:sldId id="1148" r:id="rId14"/>
    <p:sldId id="1181" r:id="rId15"/>
    <p:sldId id="1149" r:id="rId16"/>
    <p:sldId id="1150" r:id="rId17"/>
    <p:sldId id="1176" r:id="rId18"/>
    <p:sldId id="1152" r:id="rId19"/>
    <p:sldId id="1177" r:id="rId20"/>
    <p:sldId id="1178" r:id="rId21"/>
    <p:sldId id="1179" r:id="rId22"/>
    <p:sldId id="1190" r:id="rId23"/>
    <p:sldId id="1205" r:id="rId24"/>
    <p:sldId id="1202" r:id="rId25"/>
    <p:sldId id="1192" r:id="rId26"/>
    <p:sldId id="1198" r:id="rId27"/>
    <p:sldId id="1195" r:id="rId28"/>
    <p:sldId id="1193" r:id="rId29"/>
    <p:sldId id="1191" r:id="rId30"/>
    <p:sldId id="1196" r:id="rId31"/>
    <p:sldId id="1187" r:id="rId32"/>
    <p:sldId id="1203" r:id="rId33"/>
    <p:sldId id="1204" r:id="rId34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1589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608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Ca. 9kWh/W </a:t>
            </a:r>
            <a:r>
              <a:rPr lang="de-AT" dirty="0">
                <a:sym typeface="Wingdings" panose="05000000000000000000" pitchFamily="2" charset="2"/>
              </a:rPr>
              <a:t> ca. 3€/Watt 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64791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27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962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tl-leo/sperlhof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-assistant.io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-assistant.io/installation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ichelt.de/de/de/barebone-pc-brix-gb-bmpd-6005-gb-bmpd-6005-p327306.html?PROVID=2788&amp;&amp;r=1&amp;gclid=Cj0KCQiAsoycBhC6ARIsAPPbeLssHV-oHm1JPbvF8I1jtClGwSqG6yIezE4Lrs4caFJN_9D8VgHP_yoaAgULEALw_wc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hasshmo.dynv6.net/dashboard-tablet/0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home-assistant.io/integrations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nuki.io/de-at/produkte/smart-lock-pro-5-gen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blakadder.com/esphome-pixel-clock/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BCD45-5702-3D20-4C13-73C6ADCD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Kursunterlagen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2AD668-C3FB-A685-CECD-6119ADE90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endParaRPr lang="de-AT" sz="2800" dirty="0"/>
          </a:p>
          <a:p>
            <a:r>
              <a:rPr lang="de-AT" sz="2800" dirty="0"/>
              <a:t>IoT-Netz</a:t>
            </a:r>
          </a:p>
          <a:p>
            <a:pPr lvl="1"/>
            <a:r>
              <a:rPr lang="de-AT" sz="2800" dirty="0" err="1"/>
              <a:t>iot</a:t>
            </a:r>
            <a:r>
              <a:rPr lang="de-AT" sz="2800" dirty="0"/>
              <a:t>/</a:t>
            </a:r>
            <a:r>
              <a:rPr lang="de-AT" sz="2800" dirty="0" err="1"/>
              <a:t>smarthome</a:t>
            </a:r>
            <a:endParaRPr lang="de-AT" sz="2800" dirty="0"/>
          </a:p>
          <a:p>
            <a:pPr lvl="1"/>
            <a:endParaRPr lang="de-AT" sz="2800" dirty="0"/>
          </a:p>
          <a:p>
            <a:r>
              <a:rPr lang="de-AT" sz="2800" dirty="0" err="1"/>
              <a:t>Github</a:t>
            </a:r>
            <a:endParaRPr lang="de-AT" sz="2800" dirty="0"/>
          </a:p>
          <a:p>
            <a:pPr lvl="1"/>
            <a:r>
              <a:rPr lang="de-AT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2"/>
              </a:rPr>
              <a:t>https://github.com/htl-leo/sperlhof</a:t>
            </a:r>
            <a:r>
              <a:rPr lang="de-AT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lvl="1"/>
            <a:endParaRPr lang="de-AT" sz="2800" dirty="0"/>
          </a:p>
          <a:p>
            <a:endParaRPr lang="de-AT" sz="2800" dirty="0"/>
          </a:p>
        </p:txBody>
      </p:sp>
    </p:spTree>
    <p:extLst>
      <p:ext uri="{BB962C8B-B14F-4D97-AF65-F5344CB8AC3E}">
        <p14:creationId xmlns:p14="http://schemas.microsoft.com/office/powerpoint/2010/main" val="2322289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Montag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97099"/>
            <a:ext cx="8207375" cy="4608165"/>
          </a:xfrm>
        </p:spPr>
        <p:txBody>
          <a:bodyPr/>
          <a:lstStyle/>
          <a:p>
            <a:r>
              <a:rPr lang="de-AT" dirty="0"/>
              <a:t>Einführung</a:t>
            </a:r>
          </a:p>
          <a:p>
            <a:r>
              <a:rPr lang="de-AT" dirty="0"/>
              <a:t>Infrastruktur</a:t>
            </a:r>
          </a:p>
          <a:p>
            <a:pPr lvl="1"/>
            <a:r>
              <a:rPr lang="de-AT" dirty="0"/>
              <a:t>Installation unter </a:t>
            </a:r>
            <a:r>
              <a:rPr lang="de-AT" dirty="0" err="1"/>
              <a:t>Proxmox</a:t>
            </a:r>
            <a:endParaRPr lang="de-AT" dirty="0"/>
          </a:p>
          <a:p>
            <a:pPr lvl="1"/>
            <a:r>
              <a:rPr lang="de-AT" dirty="0" err="1"/>
              <a:t>HomeAssistant</a:t>
            </a:r>
            <a:r>
              <a:rPr lang="de-AT" dirty="0"/>
              <a:t> App</a:t>
            </a:r>
          </a:p>
          <a:p>
            <a:pPr lvl="1"/>
            <a:r>
              <a:rPr lang="de-AT" dirty="0"/>
              <a:t>IoT- Plattformen (</a:t>
            </a:r>
            <a:r>
              <a:rPr lang="de-AT" dirty="0" err="1"/>
              <a:t>Mqtt</a:t>
            </a:r>
            <a:r>
              <a:rPr lang="de-AT" dirty="0"/>
              <a:t>, </a:t>
            </a:r>
            <a:r>
              <a:rPr lang="de-AT" dirty="0" err="1"/>
              <a:t>Zigbee</a:t>
            </a:r>
            <a:r>
              <a:rPr lang="de-AT" dirty="0"/>
              <a:t>, Wifi, Bluetooth, …)</a:t>
            </a:r>
          </a:p>
          <a:p>
            <a:r>
              <a:rPr lang="de-AT" sz="2400" dirty="0"/>
              <a:t>ESP-Home</a:t>
            </a:r>
          </a:p>
          <a:p>
            <a:pPr lvl="1"/>
            <a:r>
              <a:rPr lang="de-AT" sz="2000" dirty="0" err="1"/>
              <a:t>AlarmBox</a:t>
            </a:r>
            <a:r>
              <a:rPr lang="de-AT" sz="2000" dirty="0"/>
              <a:t> unter </a:t>
            </a:r>
            <a:r>
              <a:rPr lang="de-AT" sz="2000" dirty="0" err="1"/>
              <a:t>ESPHome</a:t>
            </a:r>
            <a:r>
              <a:rPr lang="de-AT" sz="2000" dirty="0"/>
              <a:t> CLI</a:t>
            </a:r>
          </a:p>
          <a:p>
            <a:pPr lvl="2"/>
            <a:r>
              <a:rPr lang="de-AT" sz="2000" dirty="0"/>
              <a:t>Bewegungsmelder als Sensor</a:t>
            </a:r>
          </a:p>
          <a:p>
            <a:pPr lvl="2"/>
            <a:r>
              <a:rPr lang="de-AT" sz="2000" dirty="0"/>
              <a:t>OLED-Display</a:t>
            </a:r>
          </a:p>
          <a:p>
            <a:pPr lvl="2"/>
            <a:r>
              <a:rPr lang="de-AT" sz="2000" dirty="0"/>
              <a:t>Temperatursensor</a:t>
            </a:r>
          </a:p>
          <a:p>
            <a:pPr lvl="2"/>
            <a:r>
              <a:rPr lang="de-AT" sz="2000" dirty="0"/>
              <a:t>Buzzer als Sirenenersatz</a:t>
            </a:r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1791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</a:t>
            </a:r>
            <a:r>
              <a:rPr lang="de-AT" sz="3200" dirty="0"/>
              <a:t>Dienstag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400" dirty="0" err="1"/>
              <a:t>HomeAssistant</a:t>
            </a:r>
            <a:r>
              <a:rPr lang="de-AT" sz="2400" dirty="0"/>
              <a:t> und AI</a:t>
            </a:r>
          </a:p>
          <a:p>
            <a:pPr lvl="1"/>
            <a:r>
              <a:rPr lang="de-AT" sz="2000" dirty="0"/>
              <a:t>Sprachassistenten lokal und in der Cloud</a:t>
            </a:r>
          </a:p>
          <a:p>
            <a:pPr lvl="1"/>
            <a:r>
              <a:rPr lang="de-AT" sz="2000" dirty="0"/>
              <a:t>AI-Unterstützung bei Entwicklung und Betrieb</a:t>
            </a:r>
          </a:p>
          <a:p>
            <a:pPr lvl="1"/>
            <a:r>
              <a:rPr lang="de-AT" sz="2000" dirty="0"/>
              <a:t>Workflows mit AI-Unterstützung</a:t>
            </a:r>
          </a:p>
          <a:p>
            <a:r>
              <a:rPr lang="de-AT" sz="2400" dirty="0"/>
              <a:t>Alarmanlage mit </a:t>
            </a:r>
            <a:r>
              <a:rPr lang="de-AT" sz="2400" dirty="0" err="1"/>
              <a:t>Alarmo</a:t>
            </a:r>
            <a:endParaRPr lang="de-AT" sz="2400" dirty="0"/>
          </a:p>
          <a:p>
            <a:pPr lvl="1"/>
            <a:r>
              <a:rPr lang="de-AT" dirty="0"/>
              <a:t>Einbindung der Sensoren und Aktoren</a:t>
            </a:r>
          </a:p>
          <a:p>
            <a:pPr lvl="2"/>
            <a:r>
              <a:rPr lang="de-AT" dirty="0" err="1"/>
              <a:t>Alarmbox</a:t>
            </a:r>
            <a:endParaRPr lang="de-AT" dirty="0"/>
          </a:p>
          <a:p>
            <a:r>
              <a:rPr lang="de-AT" sz="2400" dirty="0"/>
              <a:t>Betrieb und Wartung von </a:t>
            </a:r>
            <a:r>
              <a:rPr lang="de-AT" sz="2400" dirty="0" err="1"/>
              <a:t>HomeAssistant</a:t>
            </a:r>
            <a:endParaRPr lang="de-AT" sz="2000" dirty="0"/>
          </a:p>
          <a:p>
            <a:pPr lvl="1"/>
            <a:r>
              <a:rPr lang="de-AT" sz="2000" dirty="0"/>
              <a:t>Tools für den Betrieb</a:t>
            </a:r>
          </a:p>
          <a:p>
            <a:pPr lvl="1"/>
            <a:r>
              <a:rPr lang="de-AT" sz="2000" dirty="0"/>
              <a:t>Home Assistant im Verbund mit externen Services</a:t>
            </a:r>
          </a:p>
          <a:p>
            <a:r>
              <a:rPr lang="de-AT" sz="2400" dirty="0"/>
              <a:t>Miniprojekte für Mittwoch definieren</a:t>
            </a:r>
          </a:p>
        </p:txBody>
      </p:sp>
    </p:spTree>
    <p:extLst>
      <p:ext uri="{BB962C8B-B14F-4D97-AF65-F5344CB8AC3E}">
        <p14:creationId xmlns:p14="http://schemas.microsoft.com/office/powerpoint/2010/main" val="412108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7EBDB-4DA8-854E-D435-D71105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Geplanter Ablauf - </a:t>
            </a:r>
            <a:r>
              <a:rPr lang="de-AT" sz="3200" dirty="0"/>
              <a:t>Mittwoch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3510C1-924C-6C11-6833-52C8DE073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sz="2800" dirty="0"/>
              <a:t>Miniprojekte in Kleingruppen</a:t>
            </a:r>
          </a:p>
          <a:p>
            <a:r>
              <a:rPr lang="de-AT" sz="2800" dirty="0"/>
              <a:t>Streifzug durch interessante Lösungen der Seminarteilnehmer</a:t>
            </a:r>
          </a:p>
          <a:p>
            <a:r>
              <a:rPr lang="de-AT" sz="2800" dirty="0"/>
              <a:t>Präsentationen</a:t>
            </a:r>
          </a:p>
        </p:txBody>
      </p:sp>
    </p:spTree>
    <p:extLst>
      <p:ext uri="{BB962C8B-B14F-4D97-AF65-F5344CB8AC3E}">
        <p14:creationId xmlns:p14="http://schemas.microsoft.com/office/powerpoint/2010/main" val="174888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2FEDB-560A-0AA1-FC34-261499BE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Kurs-HW  - Home Assistant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24981E-A718-6C22-D348-9E00582EB5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Eigene Infrastruktur</a:t>
            </a:r>
          </a:p>
          <a:p>
            <a:pPr lvl="1"/>
            <a:r>
              <a:rPr lang="de-AT" dirty="0" err="1"/>
              <a:t>Raspi</a:t>
            </a:r>
            <a:r>
              <a:rPr lang="de-AT" dirty="0"/>
              <a:t> 3/4/Mini PC/Altes Notebook, …</a:t>
            </a:r>
          </a:p>
          <a:p>
            <a:pPr lvl="2"/>
            <a:r>
              <a:rPr lang="de-AT" dirty="0"/>
              <a:t>PI3 hat nur 1GB RAM</a:t>
            </a:r>
          </a:p>
          <a:p>
            <a:r>
              <a:rPr lang="de-AT" dirty="0"/>
              <a:t>Von meiner Seite</a:t>
            </a:r>
          </a:p>
          <a:p>
            <a:pPr lvl="1"/>
            <a:r>
              <a:rPr lang="de-AT" dirty="0"/>
              <a:t>2 </a:t>
            </a:r>
            <a:r>
              <a:rPr lang="de-AT" dirty="0" err="1"/>
              <a:t>Proxmox</a:t>
            </a:r>
            <a:r>
              <a:rPr lang="de-AT" dirty="0"/>
              <a:t>-Rechner</a:t>
            </a:r>
          </a:p>
          <a:p>
            <a:pPr lvl="2"/>
            <a:r>
              <a:rPr lang="de-AT" dirty="0"/>
              <a:t>HP-Rechner:	200 - 204</a:t>
            </a:r>
          </a:p>
          <a:p>
            <a:pPr lvl="2"/>
            <a:r>
              <a:rPr lang="de-AT" dirty="0"/>
              <a:t>Mini-PC: 		205 – 208</a:t>
            </a:r>
          </a:p>
          <a:p>
            <a:pPr lvl="1"/>
            <a:r>
              <a:rPr lang="de-AT" dirty="0"/>
              <a:t>Raspberry PI 4:	220, 221</a:t>
            </a:r>
          </a:p>
          <a:p>
            <a:pPr lvl="1"/>
            <a:r>
              <a:rPr lang="de-AT" dirty="0"/>
              <a:t>Raspberry PI 3:	</a:t>
            </a:r>
          </a:p>
        </p:txBody>
      </p:sp>
    </p:spTree>
    <p:extLst>
      <p:ext uri="{BB962C8B-B14F-4D97-AF65-F5344CB8AC3E}">
        <p14:creationId xmlns:p14="http://schemas.microsoft.com/office/powerpoint/2010/main" val="149623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FD953-6B06-5A01-46C8-D8F91A8A1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SmartHome – WOZU?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54CFEB-6B22-10B1-718A-662DEDA4D0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dirty="0"/>
              <a:t>Bequemlichkeit und Zeitersparnis</a:t>
            </a:r>
          </a:p>
          <a:p>
            <a:pPr lvl="1"/>
            <a:r>
              <a:rPr lang="de-AT" dirty="0"/>
              <a:t>Saugroboter</a:t>
            </a:r>
          </a:p>
          <a:p>
            <a:pPr lvl="1"/>
            <a:r>
              <a:rPr lang="de-AT" dirty="0"/>
              <a:t>Automatische Bewässerung</a:t>
            </a:r>
          </a:p>
          <a:p>
            <a:pPr lvl="1"/>
            <a:r>
              <a:rPr lang="de-AT" dirty="0"/>
              <a:t>Sprachsteuerung</a:t>
            </a:r>
          </a:p>
          <a:p>
            <a:r>
              <a:rPr lang="de-AT" dirty="0"/>
              <a:t>Energieeffizienz</a:t>
            </a:r>
          </a:p>
          <a:p>
            <a:pPr lvl="1"/>
            <a:r>
              <a:rPr lang="de-AT" dirty="0"/>
              <a:t>Erzeuger/Verbraucher gezielt schalten</a:t>
            </a:r>
          </a:p>
          <a:p>
            <a:r>
              <a:rPr lang="de-AT" dirty="0"/>
              <a:t>Neue Möglichkeiten</a:t>
            </a:r>
          </a:p>
          <a:p>
            <a:pPr lvl="1"/>
            <a:r>
              <a:rPr lang="de-AT" dirty="0"/>
              <a:t>Rollläden in Abhängigkeit des Sonnenstands und der Anwesenheit von Personen rauf- und runter fahren</a:t>
            </a:r>
          </a:p>
          <a:p>
            <a:r>
              <a:rPr lang="de-AT" dirty="0"/>
              <a:t>WAF</a:t>
            </a:r>
          </a:p>
        </p:txBody>
      </p:sp>
    </p:spTree>
    <p:extLst>
      <p:ext uri="{BB962C8B-B14F-4D97-AF65-F5344CB8AC3E}">
        <p14:creationId xmlns:p14="http://schemas.microsoft.com/office/powerpoint/2010/main" val="12728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21DB8-2B72-AE7F-9522-FA8132FD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Neuigkeiten seit dem Vorjahr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08EC38-75F8-9ADC-3ACB-94AE71A0B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000" dirty="0" err="1"/>
              <a:t>UserInterfaces</a:t>
            </a:r>
            <a:r>
              <a:rPr lang="de-AT" sz="2000" dirty="0"/>
              <a:t> mit Abschnitten</a:t>
            </a:r>
          </a:p>
          <a:p>
            <a:pPr lvl="1"/>
            <a:r>
              <a:rPr lang="de-AT" sz="2000" dirty="0"/>
              <a:t>Wird monatlich weiter entwickelt</a:t>
            </a:r>
          </a:p>
          <a:p>
            <a:pPr lvl="1"/>
            <a:r>
              <a:rPr lang="de-AT" sz="2000" dirty="0"/>
              <a:t>Einfache Konfiguration für Standardanzeigen</a:t>
            </a:r>
          </a:p>
          <a:p>
            <a:r>
              <a:rPr lang="de-AT" sz="2000" dirty="0"/>
              <a:t>Matter macht kleine Schritte nach vorne</a:t>
            </a:r>
          </a:p>
          <a:p>
            <a:pPr lvl="1"/>
            <a:r>
              <a:rPr lang="de-AT" sz="1800" dirty="0"/>
              <a:t>Geräte vielfach mit Wifi, Thread noch nicht so verbreitet</a:t>
            </a:r>
          </a:p>
          <a:p>
            <a:pPr lvl="1"/>
            <a:r>
              <a:rPr lang="de-AT" sz="1800" dirty="0"/>
              <a:t>Matter für Sprachsteuerung sehr praktisch </a:t>
            </a:r>
          </a:p>
          <a:p>
            <a:pPr lvl="2"/>
            <a:r>
              <a:rPr lang="de-AT" sz="1600" dirty="0"/>
              <a:t>Weil von Google und Amazon unterstützt</a:t>
            </a:r>
          </a:p>
          <a:p>
            <a:pPr lvl="2"/>
            <a:r>
              <a:rPr lang="de-AT" sz="1600" dirty="0"/>
              <a:t>HA als </a:t>
            </a:r>
            <a:r>
              <a:rPr lang="de-AT" sz="1600" dirty="0" err="1"/>
              <a:t>Borderrouter</a:t>
            </a:r>
            <a:r>
              <a:rPr lang="de-AT" sz="1600" dirty="0"/>
              <a:t> </a:t>
            </a:r>
            <a:r>
              <a:rPr lang="de-AT" sz="1600" dirty="0">
                <a:sym typeface="Wingdings" panose="05000000000000000000" pitchFamily="2" charset="2"/>
              </a:rPr>
              <a:t> Geräte in Matter verfügbar</a:t>
            </a:r>
          </a:p>
          <a:p>
            <a:r>
              <a:rPr lang="de-AT" sz="2000" dirty="0">
                <a:sym typeface="Wingdings" panose="05000000000000000000" pitchFamily="2" charset="2"/>
              </a:rPr>
              <a:t>Viele neue Sensoren/Aktoren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Radar-Bewegungsmelder</a:t>
            </a:r>
          </a:p>
          <a:p>
            <a:r>
              <a:rPr lang="de-AT" sz="2000" dirty="0">
                <a:sym typeface="Wingdings" panose="05000000000000000000" pitchFamily="2" charset="2"/>
              </a:rPr>
              <a:t>AI-Unterstützung</a:t>
            </a:r>
          </a:p>
          <a:p>
            <a:pPr lvl="1"/>
            <a:r>
              <a:rPr lang="de-AT" sz="1800" dirty="0">
                <a:sym typeface="Wingdings" panose="05000000000000000000" pitchFamily="2" charset="2"/>
              </a:rPr>
              <a:t>Kameras</a:t>
            </a:r>
          </a:p>
          <a:p>
            <a:pPr lvl="1"/>
            <a:r>
              <a:rPr lang="de-AT" sz="1800" dirty="0"/>
              <a:t>Automatisierungen</a:t>
            </a:r>
          </a:p>
          <a:p>
            <a:pPr lvl="1"/>
            <a:r>
              <a:rPr lang="de-AT" sz="1800" dirty="0"/>
              <a:t>…</a:t>
            </a:r>
          </a:p>
          <a:p>
            <a:pPr lvl="1"/>
            <a:endParaRPr lang="de-AT" sz="1800" dirty="0"/>
          </a:p>
        </p:txBody>
      </p:sp>
    </p:spTree>
    <p:extLst>
      <p:ext uri="{BB962C8B-B14F-4D97-AF65-F5344CB8AC3E}">
        <p14:creationId xmlns:p14="http://schemas.microsoft.com/office/powerpoint/2010/main" val="102637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D363A-F8DD-B5A1-9297-88BE5135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Voraussetzungen für smartes Home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3BAD4F-A57F-7FE5-6BF4-9B07FBE609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Erfassung von relevanten Zuständen</a:t>
            </a:r>
          </a:p>
          <a:p>
            <a:pPr lvl="1"/>
            <a:r>
              <a:rPr lang="de-AT" dirty="0"/>
              <a:t>Sensoren und Aktoren verschiedenster Hersteller </a:t>
            </a:r>
          </a:p>
          <a:p>
            <a:r>
              <a:rPr lang="de-AT" dirty="0"/>
              <a:t>Verarbeitung der Daten</a:t>
            </a:r>
          </a:p>
          <a:p>
            <a:pPr lvl="1"/>
            <a:r>
              <a:rPr lang="de-AT" dirty="0"/>
              <a:t>Automatisierungslogik</a:t>
            </a:r>
          </a:p>
          <a:p>
            <a:pPr lvl="2"/>
            <a:r>
              <a:rPr lang="de-AT" dirty="0"/>
              <a:t>Assistenzgestützt in HA</a:t>
            </a:r>
          </a:p>
          <a:p>
            <a:pPr lvl="2"/>
            <a:r>
              <a:rPr lang="de-AT" dirty="0"/>
              <a:t>Textbasiert über YAML in HA</a:t>
            </a:r>
          </a:p>
          <a:p>
            <a:pPr lvl="2"/>
            <a:r>
              <a:rPr lang="de-AT" dirty="0"/>
              <a:t>Per Code implementiert in </a:t>
            </a:r>
            <a:r>
              <a:rPr lang="de-AT" dirty="0" err="1"/>
              <a:t>NodeRed</a:t>
            </a:r>
            <a:endParaRPr lang="de-AT" dirty="0"/>
          </a:p>
          <a:p>
            <a:r>
              <a:rPr lang="de-AT" dirty="0"/>
              <a:t>Auslösen von Aktionen</a:t>
            </a:r>
          </a:p>
          <a:p>
            <a:pPr lvl="1"/>
            <a:r>
              <a:rPr lang="de-AT" dirty="0"/>
              <a:t>Regelung</a:t>
            </a:r>
          </a:p>
          <a:p>
            <a:pPr lvl="1"/>
            <a:r>
              <a:rPr lang="de-AT" dirty="0"/>
              <a:t>Schalten von Aktoren</a:t>
            </a:r>
          </a:p>
          <a:p>
            <a:pPr lvl="1"/>
            <a:r>
              <a:rPr lang="de-AT" dirty="0"/>
              <a:t>Verständigung im Ausnahmefall, …</a:t>
            </a:r>
          </a:p>
        </p:txBody>
      </p:sp>
    </p:spTree>
    <p:extLst>
      <p:ext uri="{BB962C8B-B14F-4D97-AF65-F5344CB8AC3E}">
        <p14:creationId xmlns:p14="http://schemas.microsoft.com/office/powerpoint/2010/main" val="161155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9BC85-DAF3-D92F-B9EC-51C027AF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 Situation blieb fast unverändert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503F7B-DB2D-6CED-689C-10D8470F1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Viele unterschiedliche Systeme von vielen Herstellern</a:t>
            </a:r>
          </a:p>
          <a:p>
            <a:pPr lvl="1"/>
            <a:r>
              <a:rPr lang="de-AT" sz="2000" dirty="0"/>
              <a:t>Philips-Hue</a:t>
            </a:r>
          </a:p>
          <a:p>
            <a:pPr lvl="1"/>
            <a:r>
              <a:rPr lang="de-AT" sz="2000" dirty="0" err="1"/>
              <a:t>Homematic</a:t>
            </a:r>
            <a:endParaRPr lang="de-AT" sz="2000" dirty="0"/>
          </a:p>
          <a:p>
            <a:pPr lvl="1"/>
            <a:r>
              <a:rPr lang="de-AT" sz="2000" dirty="0"/>
              <a:t>Alexa,</a:t>
            </a:r>
          </a:p>
          <a:p>
            <a:pPr lvl="1"/>
            <a:r>
              <a:rPr lang="de-AT" sz="2000" dirty="0"/>
              <a:t>…</a:t>
            </a:r>
          </a:p>
          <a:p>
            <a:r>
              <a:rPr lang="de-AT" sz="2400" dirty="0"/>
              <a:t>Wildwuchs an Kommunikationsmedien (drahtgebunden, Funk, Optik, …) und Kommunikationsprotokollen</a:t>
            </a:r>
          </a:p>
          <a:p>
            <a:pPr lvl="1"/>
            <a:r>
              <a:rPr lang="de-AT" sz="2000" dirty="0"/>
              <a:t>BT, ZigBee, Wifi, …</a:t>
            </a:r>
          </a:p>
          <a:p>
            <a:pPr lvl="1"/>
            <a:r>
              <a:rPr lang="de-AT" sz="2000" dirty="0" err="1"/>
              <a:t>Properitäre</a:t>
            </a:r>
            <a:r>
              <a:rPr lang="de-AT" sz="2000" dirty="0"/>
              <a:t> Protokolle</a:t>
            </a:r>
          </a:p>
          <a:p>
            <a:pPr lvl="2"/>
            <a:r>
              <a:rPr lang="de-AT" sz="2000" dirty="0" err="1"/>
              <a:t>Homematic</a:t>
            </a:r>
            <a:endParaRPr lang="de-AT" sz="2000" dirty="0"/>
          </a:p>
          <a:p>
            <a:r>
              <a:rPr lang="de-AT" sz="2400" dirty="0"/>
              <a:t>Viele Cloudanbieter mit jeweils eigener App</a:t>
            </a:r>
          </a:p>
          <a:p>
            <a:pPr lvl="1"/>
            <a:r>
              <a:rPr lang="de-AT" sz="2200" dirty="0"/>
              <a:t>… und wieder wird mit Daten bezahlt</a:t>
            </a:r>
          </a:p>
        </p:txBody>
      </p:sp>
      <p:pic>
        <p:nvPicPr>
          <p:cNvPr id="2050" name="Picture 2" descr="Smart bulbs | Philips Hue AT">
            <a:extLst>
              <a:ext uri="{FF2B5EF4-FFF2-40B4-BE49-F238E27FC236}">
                <a16:creationId xmlns:a16="http://schemas.microsoft.com/office/drawing/2014/main" id="{3CBAC207-33B6-FDFC-2AD2-2E1BB1E28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700237"/>
            <a:ext cx="990997" cy="99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mematic IP Funk Zentrale Access Point kaufen">
            <a:extLst>
              <a:ext uri="{FF2B5EF4-FFF2-40B4-BE49-F238E27FC236}">
                <a16:creationId xmlns:a16="http://schemas.microsoft.com/office/drawing/2014/main" id="{DE6C4EA9-A6CF-F10F-7521-73BDF2BF7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54948"/>
            <a:ext cx="998559" cy="88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 Echo Dot 5. Generation mit Uhr, blau">
            <a:extLst>
              <a:ext uri="{FF2B5EF4-FFF2-40B4-BE49-F238E27FC236}">
                <a16:creationId xmlns:a16="http://schemas.microsoft.com/office/drawing/2014/main" id="{84F36BCE-DE74-FDB0-D605-5016D4F1F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706" y="1611188"/>
            <a:ext cx="1651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as ist Zigbee? Erklärung der weltweit populärsten  Smart-Light-Network-Technologie | Homey">
            <a:extLst>
              <a:ext uri="{FF2B5EF4-FFF2-40B4-BE49-F238E27FC236}">
                <a16:creationId xmlns:a16="http://schemas.microsoft.com/office/drawing/2014/main" id="{98505B0E-D98F-6252-402F-6DFC9078A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561" y="3774231"/>
            <a:ext cx="627483" cy="89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69998E3-D081-6AE2-7CC5-C6E82DBA4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777269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293C4A48-823B-3301-C104-CCBAC67F8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32" y="3684329"/>
            <a:ext cx="885028" cy="88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mazon Web Services – Wikipedia">
            <a:extLst>
              <a:ext uri="{FF2B5EF4-FFF2-40B4-BE49-F238E27FC236}">
                <a16:creationId xmlns:a16="http://schemas.microsoft.com/office/drawing/2014/main" id="{CAD6DFB4-841E-7C94-985F-D1067A0B0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9" y="6161432"/>
            <a:ext cx="711319" cy="42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logo">
            <a:extLst>
              <a:ext uri="{FF2B5EF4-FFF2-40B4-BE49-F238E27FC236}">
                <a16:creationId xmlns:a16="http://schemas.microsoft.com/office/drawing/2014/main" id="{946AE647-A3B9-22EF-C76C-407DBF07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79" y="6092725"/>
            <a:ext cx="1021282" cy="52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Google Nest – Wikipedia">
            <a:extLst>
              <a:ext uri="{FF2B5EF4-FFF2-40B4-BE49-F238E27FC236}">
                <a16:creationId xmlns:a16="http://schemas.microsoft.com/office/drawing/2014/main" id="{8D984224-E41F-C070-549C-F6E560250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262" y="6044423"/>
            <a:ext cx="1352745" cy="46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9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EE892-9EC3-6AC9-A7F5-F565468C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10" y="111214"/>
            <a:ext cx="8229600" cy="1143000"/>
          </a:xfrm>
        </p:spPr>
        <p:txBody>
          <a:bodyPr/>
          <a:lstStyle/>
          <a:p>
            <a:r>
              <a:rPr lang="de-AT" dirty="0"/>
              <a:t>Wieso also immer noch  </a:t>
            </a:r>
            <a:r>
              <a:rPr lang="de-AT" dirty="0" err="1"/>
              <a:t>HomeAssistant</a:t>
            </a:r>
            <a:r>
              <a:rPr lang="de-AT" dirty="0"/>
              <a:t>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D9D9CB-60CF-AEBE-9965-F81E63438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Integrationsplattform für ALLE </a:t>
            </a:r>
            <a:r>
              <a:rPr lang="de-AT" dirty="0" err="1"/>
              <a:t>Iot</a:t>
            </a:r>
            <a:r>
              <a:rPr lang="de-AT" dirty="0"/>
              <a:t>-Systeme/Devices</a:t>
            </a:r>
          </a:p>
          <a:p>
            <a:pPr lvl="1"/>
            <a:r>
              <a:rPr lang="de-AT" dirty="0"/>
              <a:t>Muss Matter erst erreichen</a:t>
            </a:r>
          </a:p>
          <a:p>
            <a:r>
              <a:rPr lang="de-AT" dirty="0" err="1"/>
              <a:t>OpenSource</a:t>
            </a:r>
            <a:endParaRPr lang="de-AT" dirty="0"/>
          </a:p>
          <a:p>
            <a:r>
              <a:rPr lang="de-AT" dirty="0" err="1"/>
              <a:t>LocalControl</a:t>
            </a:r>
            <a:r>
              <a:rPr lang="de-AT" dirty="0"/>
              <a:t> möglich </a:t>
            </a:r>
            <a:r>
              <a:rPr lang="de-AT" dirty="0">
                <a:sym typeface="Wingdings" panose="05000000000000000000" pitchFamily="2" charset="2"/>
              </a:rPr>
              <a:t> Cloud minimieren</a:t>
            </a:r>
            <a:endParaRPr lang="de-AT" dirty="0"/>
          </a:p>
          <a:p>
            <a:r>
              <a:rPr lang="de-AT" dirty="0"/>
              <a:t>Erweiterbarkeit über </a:t>
            </a:r>
            <a:r>
              <a:rPr lang="de-AT" dirty="0" err="1"/>
              <a:t>AddOns</a:t>
            </a:r>
            <a:r>
              <a:rPr lang="de-AT" dirty="0"/>
              <a:t>/Integrationen</a:t>
            </a:r>
          </a:p>
          <a:p>
            <a:pPr lvl="1"/>
            <a:r>
              <a:rPr lang="de-AT" dirty="0"/>
              <a:t>Offiziell und aus </a:t>
            </a:r>
            <a:r>
              <a:rPr lang="de-AT" dirty="0" err="1"/>
              <a:t>CustomRepositories</a:t>
            </a:r>
            <a:endParaRPr lang="de-AT" dirty="0"/>
          </a:p>
          <a:p>
            <a:r>
              <a:rPr lang="de-AT" dirty="0"/>
              <a:t>Starke Community (Open Source, </a:t>
            </a:r>
            <a:r>
              <a:rPr lang="de-AT" dirty="0" err="1"/>
              <a:t>free</a:t>
            </a:r>
            <a:r>
              <a:rPr lang="de-AT" dirty="0"/>
              <a:t>)</a:t>
            </a:r>
          </a:p>
          <a:p>
            <a:r>
              <a:rPr lang="de-AT" dirty="0"/>
              <a:t>Freiheiten, Flexibilität und Anpassbarkeit</a:t>
            </a:r>
          </a:p>
          <a:p>
            <a:r>
              <a:rPr lang="de-AT" dirty="0"/>
              <a:t>Einfache und mächtige Automatisierungsmöglichkeit</a:t>
            </a:r>
          </a:p>
          <a:p>
            <a:r>
              <a:rPr lang="de-AT" dirty="0"/>
              <a:t>Security und Privacy</a:t>
            </a:r>
          </a:p>
          <a:p>
            <a:r>
              <a:rPr lang="de-AT" dirty="0"/>
              <a:t>Gut gepflegte Doku (</a:t>
            </a:r>
            <a:r>
              <a:rPr lang="de-AT" dirty="0">
                <a:hlinkClick r:id="rId2"/>
              </a:rPr>
              <a:t>https://www.home-assistant.io/</a:t>
            </a:r>
            <a:r>
              <a:rPr lang="de-AT" dirty="0"/>
              <a:t> 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14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DF957-0355-256C-78D3-998AA69E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Und wieso auch nicht!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1ECE23-EE70-6B31-CC77-D01124A7E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162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4C480-2C69-C43E-2261-B39B95FE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 – Installationsmethoden (SW)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A99A70-CAA8-4A2E-6E4C-5B11F96BD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https://www.home-assistant.io/installation/</a:t>
            </a:r>
            <a:r>
              <a:rPr lang="de-AT" dirty="0"/>
              <a:t> </a:t>
            </a:r>
          </a:p>
          <a:p>
            <a:endParaRPr lang="de-AT" dirty="0"/>
          </a:p>
          <a:p>
            <a:r>
              <a:rPr lang="de-AT" dirty="0"/>
              <a:t>Home </a:t>
            </a:r>
            <a:r>
              <a:rPr lang="de-AT" dirty="0" err="1"/>
              <a:t>Assistant</a:t>
            </a:r>
            <a:r>
              <a:rPr lang="de-AT" dirty="0"/>
              <a:t> Operating System</a:t>
            </a:r>
          </a:p>
          <a:p>
            <a:pPr lvl="1"/>
            <a:r>
              <a:rPr lang="de-AT" dirty="0"/>
              <a:t>HA übernimmt Kontrolle über Maschine</a:t>
            </a:r>
          </a:p>
          <a:p>
            <a:pPr lvl="1"/>
            <a:r>
              <a:rPr lang="de-AT" dirty="0"/>
              <a:t>Supervisor kümmert sich um Updates und </a:t>
            </a:r>
            <a:r>
              <a:rPr lang="de-AT" dirty="0" err="1"/>
              <a:t>AddOns</a:t>
            </a:r>
            <a:endParaRPr lang="de-AT" dirty="0"/>
          </a:p>
          <a:p>
            <a:r>
              <a:rPr lang="de-AT" dirty="0"/>
              <a:t>Home </a:t>
            </a:r>
            <a:r>
              <a:rPr lang="de-AT" dirty="0" err="1"/>
              <a:t>Assistant</a:t>
            </a:r>
            <a:r>
              <a:rPr lang="de-AT" dirty="0"/>
              <a:t> Container</a:t>
            </a:r>
          </a:p>
          <a:p>
            <a:pPr lvl="1"/>
            <a:r>
              <a:rPr lang="de-AT" dirty="0"/>
              <a:t>HA Core läuft unter Docker</a:t>
            </a:r>
          </a:p>
          <a:p>
            <a:pPr lvl="1"/>
            <a:r>
              <a:rPr lang="de-AT" dirty="0"/>
              <a:t>Keine </a:t>
            </a:r>
            <a:r>
              <a:rPr lang="de-AT" dirty="0" err="1"/>
              <a:t>AddOns</a:t>
            </a:r>
            <a:endParaRPr lang="de-AT" dirty="0"/>
          </a:p>
          <a:p>
            <a:r>
              <a:rPr lang="de-AT" dirty="0"/>
              <a:t>Manuelle Installation von HA</a:t>
            </a:r>
          </a:p>
          <a:p>
            <a:pPr lvl="1"/>
            <a:r>
              <a:rPr lang="de-AT" dirty="0"/>
              <a:t>Direkt unter Debian</a:t>
            </a:r>
          </a:p>
          <a:p>
            <a:pPr lvl="1"/>
            <a:r>
              <a:rPr lang="de-AT" dirty="0"/>
              <a:t>Unter Python VE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6408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F507E-8658-EC6F-217F-AD2460E1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Hardware-Plattformen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47A7E6-E511-E68F-3A27-F3B2F1B51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09067"/>
            <a:ext cx="8207375" cy="4608165"/>
          </a:xfrm>
        </p:spPr>
        <p:txBody>
          <a:bodyPr/>
          <a:lstStyle/>
          <a:p>
            <a:r>
              <a:rPr lang="de-AT" sz="2400" dirty="0"/>
              <a:t>Raspberry Pi 4 mit idealerweise 8GB und SSD</a:t>
            </a:r>
          </a:p>
          <a:p>
            <a:pPr lvl="1"/>
            <a:r>
              <a:rPr lang="de-AT" sz="2000" dirty="0"/>
              <a:t>Bedingt leistungsfähig</a:t>
            </a:r>
          </a:p>
          <a:p>
            <a:pPr lvl="1"/>
            <a:r>
              <a:rPr lang="de-AT" sz="2000" dirty="0"/>
              <a:t>Geringer Energiebedarf (ca. 4W)</a:t>
            </a:r>
          </a:p>
          <a:p>
            <a:r>
              <a:rPr lang="de-AT" sz="2200" dirty="0"/>
              <a:t>Raspberry Pi 5 braucht zu viel Strom</a:t>
            </a:r>
          </a:p>
          <a:p>
            <a:r>
              <a:rPr lang="de-AT" sz="2200" dirty="0" err="1"/>
              <a:t>Odroid</a:t>
            </a:r>
            <a:r>
              <a:rPr lang="de-AT" sz="2200" dirty="0"/>
              <a:t> N2+</a:t>
            </a:r>
          </a:p>
          <a:p>
            <a:pPr lvl="1"/>
            <a:endParaRPr lang="de-AT" sz="2000" dirty="0"/>
          </a:p>
          <a:p>
            <a:r>
              <a:rPr lang="de-AT" sz="2400" dirty="0"/>
              <a:t>Altes Notebook/</a:t>
            </a:r>
            <a:r>
              <a:rPr lang="de-AT" sz="2400" dirty="0" err="1"/>
              <a:t>ThinClient</a:t>
            </a:r>
            <a:r>
              <a:rPr lang="de-AT" sz="2400" dirty="0"/>
              <a:t> </a:t>
            </a:r>
            <a:r>
              <a:rPr lang="de-AT" sz="2000" dirty="0"/>
              <a:t>(Dell </a:t>
            </a:r>
            <a:r>
              <a:rPr lang="de-AT" sz="2000" dirty="0" err="1"/>
              <a:t>Wyse</a:t>
            </a:r>
            <a:r>
              <a:rPr lang="de-AT" sz="2000" dirty="0"/>
              <a:t> 5070, HP T630)</a:t>
            </a:r>
            <a:endParaRPr lang="de-AT" sz="2400" dirty="0"/>
          </a:p>
          <a:p>
            <a:pPr lvl="1"/>
            <a:r>
              <a:rPr lang="de-AT" sz="2000" dirty="0"/>
              <a:t>Sehr leistungsfähig</a:t>
            </a:r>
          </a:p>
          <a:p>
            <a:pPr lvl="1"/>
            <a:r>
              <a:rPr lang="de-AT" sz="2000" dirty="0"/>
              <a:t>Ca. 20W Leistung </a:t>
            </a:r>
            <a:r>
              <a:rPr lang="de-AT" sz="2000" dirty="0">
                <a:sym typeface="Wingdings" panose="05000000000000000000" pitchFamily="2" charset="2"/>
              </a:rPr>
              <a:t> ca. 50€ mehr Stromkosten/Jahr</a:t>
            </a:r>
          </a:p>
          <a:p>
            <a:pPr lvl="1"/>
            <a:endParaRPr lang="de-AT" sz="2000" dirty="0"/>
          </a:p>
          <a:p>
            <a:r>
              <a:rPr lang="de-AT" sz="2400" dirty="0" err="1"/>
              <a:t>Barebone</a:t>
            </a:r>
            <a:r>
              <a:rPr lang="de-AT" sz="2400" dirty="0"/>
              <a:t>-PC/NUC	</a:t>
            </a:r>
          </a:p>
          <a:p>
            <a:pPr lvl="1"/>
            <a:r>
              <a:rPr lang="de-AT" sz="2200" dirty="0"/>
              <a:t>„</a:t>
            </a:r>
            <a:r>
              <a:rPr lang="de-AT" sz="2200" dirty="0">
                <a:hlinkClick r:id="rId3"/>
              </a:rPr>
              <a:t>Seminar-Server</a:t>
            </a:r>
            <a:r>
              <a:rPr lang="de-AT" sz="2200" dirty="0"/>
              <a:t>“</a:t>
            </a:r>
          </a:p>
          <a:p>
            <a:pPr lvl="1"/>
            <a:r>
              <a:rPr lang="de-AT" sz="2200" dirty="0"/>
              <a:t>Neue Alder Lake N100/150 Mini-PC</a:t>
            </a:r>
          </a:p>
          <a:p>
            <a:pPr lvl="1"/>
            <a:r>
              <a:rPr lang="de-AT" sz="2400" dirty="0"/>
              <a:t>Teurer, aber geringere Stromkosten/Jahr (25€/Jahr)</a:t>
            </a:r>
            <a:endParaRPr lang="de-AT" sz="2200" dirty="0"/>
          </a:p>
        </p:txBody>
      </p:sp>
    </p:spTree>
    <p:extLst>
      <p:ext uri="{BB962C8B-B14F-4D97-AF65-F5344CB8AC3E}">
        <p14:creationId xmlns:p14="http://schemas.microsoft.com/office/powerpoint/2010/main" val="35854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E2295-BB1E-1445-24F3-7E1A6AFD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Remote Access ist notwendig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68FA33-061A-6429-BD95-B734602D18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5091"/>
            <a:ext cx="8207375" cy="4608165"/>
          </a:xfrm>
        </p:spPr>
        <p:txBody>
          <a:bodyPr/>
          <a:lstStyle/>
          <a:p>
            <a:r>
              <a:rPr lang="de-AT" dirty="0"/>
              <a:t>Sicherheit </a:t>
            </a:r>
            <a:r>
              <a:rPr lang="de-AT" dirty="0">
                <a:sym typeface="Wingdings" panose="05000000000000000000" pitchFamily="2" charset="2"/>
              </a:rPr>
              <a:t> Bequemlichkeit</a:t>
            </a:r>
          </a:p>
          <a:p>
            <a:r>
              <a:rPr lang="de-AT" dirty="0">
                <a:sym typeface="Wingdings" panose="05000000000000000000" pitchFamily="2" charset="2"/>
              </a:rPr>
              <a:t>VPN z.B. mittels </a:t>
            </a:r>
            <a:r>
              <a:rPr lang="de-AT" dirty="0" err="1">
                <a:sym typeface="Wingdings" panose="05000000000000000000" pitchFamily="2" charset="2"/>
              </a:rPr>
              <a:t>WireGuard</a:t>
            </a:r>
            <a:endParaRPr lang="de-AT" dirty="0">
              <a:sym typeface="Wingdings" panose="05000000000000000000" pitchFamily="2" charset="2"/>
            </a:endParaRPr>
          </a:p>
          <a:p>
            <a:pPr lvl="1"/>
            <a:r>
              <a:rPr lang="de-AT" dirty="0">
                <a:sym typeface="Wingdings" panose="05000000000000000000" pitchFamily="2" charset="2"/>
              </a:rPr>
              <a:t>Nur berechtigte Geräte haben Zugriff</a:t>
            </a:r>
          </a:p>
          <a:p>
            <a:r>
              <a:rPr lang="de-AT" dirty="0">
                <a:sym typeface="Wingdings" panose="05000000000000000000" pitchFamily="2" charset="2"/>
              </a:rPr>
              <a:t>Zugriff über </a:t>
            </a:r>
            <a:r>
              <a:rPr lang="de-AT" dirty="0" err="1">
                <a:sym typeface="Wingdings" panose="05000000000000000000" pitchFamily="2" charset="2"/>
              </a:rPr>
              <a:t>DynDns</a:t>
            </a:r>
            <a:endParaRPr lang="de-AT" dirty="0">
              <a:sym typeface="Wingdings" panose="05000000000000000000" pitchFamily="2" charset="2"/>
            </a:endParaRPr>
          </a:p>
          <a:p>
            <a:pPr lvl="1"/>
            <a:r>
              <a:rPr lang="de-AT" dirty="0">
                <a:sym typeface="Wingdings" panose="05000000000000000000" pitchFamily="2" charset="2"/>
              </a:rPr>
              <a:t>Erfordert offene Ports im Router</a:t>
            </a:r>
          </a:p>
          <a:p>
            <a:pPr lvl="1"/>
            <a:r>
              <a:rPr lang="de-AT" dirty="0" err="1">
                <a:sym typeface="Wingdings" panose="05000000000000000000" pitchFamily="2" charset="2"/>
              </a:rPr>
              <a:t>DuckDns</a:t>
            </a:r>
            <a:r>
              <a:rPr lang="de-AT" dirty="0">
                <a:sym typeface="Wingdings" panose="05000000000000000000" pitchFamily="2" charset="2"/>
              </a:rPr>
              <a:t>, DynV6</a:t>
            </a:r>
          </a:p>
          <a:p>
            <a:pPr lvl="1"/>
            <a:r>
              <a:rPr lang="de-AT" dirty="0" err="1">
                <a:sym typeface="Wingdings" panose="05000000000000000000" pitchFamily="2" charset="2"/>
              </a:rPr>
              <a:t>Nginx</a:t>
            </a:r>
            <a:r>
              <a:rPr lang="de-AT" dirty="0">
                <a:sym typeface="Wingdings" panose="05000000000000000000" pitchFamily="2" charset="2"/>
              </a:rPr>
              <a:t>-Proxymanager</a:t>
            </a:r>
          </a:p>
          <a:p>
            <a:r>
              <a:rPr lang="de-AT" dirty="0"/>
              <a:t>Cloudservice</a:t>
            </a:r>
          </a:p>
          <a:p>
            <a:pPr lvl="1"/>
            <a:r>
              <a:rPr lang="de-AT" dirty="0"/>
              <a:t>Nabu Casa Cloud</a:t>
            </a:r>
          </a:p>
          <a:p>
            <a:pPr lvl="1"/>
            <a:r>
              <a:rPr lang="de-AT" dirty="0"/>
              <a:t>Cloudflare</a:t>
            </a:r>
          </a:p>
        </p:txBody>
      </p:sp>
    </p:spTree>
    <p:extLst>
      <p:ext uri="{BB962C8B-B14F-4D97-AF65-F5344CB8AC3E}">
        <p14:creationId xmlns:p14="http://schemas.microsoft.com/office/powerpoint/2010/main" val="3528061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52265-C7EB-182A-1E00-D1C301F0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kann ich mit HA machen?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C5FC38-BE3F-F64B-E2D1-C879CAD98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124744"/>
            <a:ext cx="8207375" cy="4608165"/>
          </a:xfrm>
        </p:spPr>
        <p:txBody>
          <a:bodyPr/>
          <a:lstStyle/>
          <a:p>
            <a:r>
              <a:rPr lang="de-AT" dirty="0"/>
              <a:t>Visualisierung</a:t>
            </a:r>
          </a:p>
          <a:p>
            <a:pPr lvl="1"/>
            <a:r>
              <a:rPr lang="de-AT" dirty="0"/>
              <a:t>Einfache Dashboards</a:t>
            </a:r>
          </a:p>
          <a:p>
            <a:pPr lvl="2"/>
            <a:r>
              <a:rPr lang="de-AT" dirty="0"/>
              <a:t>Sehr viele </a:t>
            </a:r>
            <a:r>
              <a:rPr lang="de-AT" dirty="0" err="1"/>
              <a:t>CustomComponents</a:t>
            </a:r>
            <a:endParaRPr lang="de-AT" dirty="0"/>
          </a:p>
          <a:p>
            <a:r>
              <a:rPr lang="de-AT" dirty="0"/>
              <a:t>Automatisierungen</a:t>
            </a:r>
          </a:p>
          <a:p>
            <a:pPr lvl="1"/>
            <a:r>
              <a:rPr lang="de-AT" dirty="0"/>
              <a:t>Einfach über Assistenten</a:t>
            </a:r>
          </a:p>
          <a:p>
            <a:pPr lvl="1"/>
            <a:r>
              <a:rPr lang="de-AT" dirty="0"/>
              <a:t>Mächtiger mittels </a:t>
            </a:r>
            <a:r>
              <a:rPr lang="de-AT" dirty="0" err="1"/>
              <a:t>Yaml</a:t>
            </a:r>
            <a:r>
              <a:rPr lang="de-AT" dirty="0"/>
              <a:t> und KI</a:t>
            </a:r>
          </a:p>
          <a:p>
            <a:r>
              <a:rPr lang="de-AT" dirty="0" err="1"/>
              <a:t>Notification</a:t>
            </a:r>
            <a:endParaRPr lang="de-AT" dirty="0"/>
          </a:p>
          <a:p>
            <a:pPr lvl="1"/>
            <a:r>
              <a:rPr lang="de-AT" dirty="0"/>
              <a:t>Verschiedene Kanäle (App, Mail, …)</a:t>
            </a:r>
          </a:p>
          <a:p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711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C2DBDA-3FA4-877F-B036-5D1223A6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Visualisierung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761885-F213-1155-84D3-154AD3BB4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1124744"/>
            <a:ext cx="4247702" cy="4608165"/>
          </a:xfrm>
        </p:spPr>
        <p:txBody>
          <a:bodyPr/>
          <a:lstStyle/>
          <a:p>
            <a:r>
              <a:rPr lang="de-AT" dirty="0"/>
              <a:t>Einfach, aber leistungsfähig</a:t>
            </a:r>
          </a:p>
          <a:p>
            <a:r>
              <a:rPr lang="de-AT" dirty="0"/>
              <a:t>Responsive web design</a:t>
            </a:r>
          </a:p>
          <a:p>
            <a:r>
              <a:rPr lang="de-AT" dirty="0"/>
              <a:t>Struktur</a:t>
            </a:r>
          </a:p>
          <a:p>
            <a:pPr lvl="1"/>
            <a:r>
              <a:rPr lang="de-AT" dirty="0"/>
              <a:t>Dashboards</a:t>
            </a:r>
          </a:p>
          <a:p>
            <a:pPr lvl="1"/>
            <a:r>
              <a:rPr lang="de-AT" dirty="0"/>
              <a:t>Views</a:t>
            </a:r>
          </a:p>
          <a:p>
            <a:pPr lvl="1"/>
            <a:r>
              <a:rPr lang="de-AT" dirty="0" err="1">
                <a:solidFill>
                  <a:srgbClr val="FF0000"/>
                </a:solidFill>
              </a:rPr>
              <a:t>Regions</a:t>
            </a:r>
            <a:endParaRPr lang="de-AT" dirty="0">
              <a:solidFill>
                <a:srgbClr val="FF0000"/>
              </a:solidFill>
            </a:endParaRPr>
          </a:p>
          <a:p>
            <a:pPr lvl="1"/>
            <a:r>
              <a:rPr lang="de-AT" dirty="0"/>
              <a:t>Cards</a:t>
            </a:r>
          </a:p>
          <a:p>
            <a:pPr lvl="1"/>
            <a:r>
              <a:rPr lang="de-AT" dirty="0" err="1"/>
              <a:t>Entities</a:t>
            </a:r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49DB7E-8802-EF5C-5899-BBDA78C3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925448"/>
            <a:ext cx="3873312" cy="515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08172-4AC2-8763-75B5-DB12E5A5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Companion-App ist sehr zu empfehlen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CFB301-1FEE-298D-BDDA-4468DF4EE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759871" cy="4608165"/>
          </a:xfrm>
        </p:spPr>
        <p:txBody>
          <a:bodyPr/>
          <a:lstStyle/>
          <a:p>
            <a:r>
              <a:rPr lang="de-AT" dirty="0"/>
              <a:t>Optimale Ergänzung</a:t>
            </a:r>
          </a:p>
          <a:p>
            <a:pPr lvl="1"/>
            <a:r>
              <a:rPr lang="de-AT" dirty="0" err="1"/>
              <a:t>Notifications</a:t>
            </a:r>
            <a:endParaRPr lang="de-AT" dirty="0"/>
          </a:p>
          <a:p>
            <a:pPr lvl="1"/>
            <a:r>
              <a:rPr lang="de-AT" dirty="0"/>
              <a:t>Remote Control</a:t>
            </a:r>
          </a:p>
          <a:p>
            <a:pPr lvl="1"/>
            <a:r>
              <a:rPr lang="de-AT" dirty="0"/>
              <a:t>Standort-Tracking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02D3007-92FF-2675-0412-4AFB5D263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981075"/>
            <a:ext cx="2551725" cy="566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08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8A883A-FB9F-9053-00A3-A4D30241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Notification</a:t>
            </a:r>
            <a:r>
              <a:rPr lang="de-AT" dirty="0"/>
              <a:t> per HA-App oder Handy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E55AF-A8B8-3DA5-388A-AB49793DF2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327823" cy="4608165"/>
          </a:xfrm>
        </p:spPr>
        <p:txBody>
          <a:bodyPr/>
          <a:lstStyle/>
          <a:p>
            <a:r>
              <a:rPr lang="de-AT" dirty="0" err="1"/>
              <a:t>Watchdog</a:t>
            </a:r>
            <a:r>
              <a:rPr lang="de-AT" dirty="0"/>
              <a:t> wurde nicht getriggert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FD7C3C-05E2-C2A1-2CDC-83E1951B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628800"/>
            <a:ext cx="2916188" cy="375848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10E8999-37AE-6F95-5021-586F9F52B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132856"/>
            <a:ext cx="481965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5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947B47-94B8-54C4-9463-199B32ED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Tablet als günstige Zentrale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5BAEBC-DC62-564E-4CAA-C5FB7563D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980728"/>
            <a:ext cx="8207375" cy="4608165"/>
          </a:xfrm>
        </p:spPr>
        <p:txBody>
          <a:bodyPr/>
          <a:lstStyle/>
          <a:p>
            <a:r>
              <a:rPr lang="de-AT" dirty="0">
                <a:hlinkClick r:id="rId2"/>
              </a:rPr>
              <a:t>https://hasshmo.dynv6.net/dashboard-tablet/0</a:t>
            </a:r>
            <a:r>
              <a:rPr lang="de-AT" dirty="0"/>
              <a:t>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3C7FC1-30FA-697F-AFBD-F13B59D35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772816"/>
            <a:ext cx="7092280" cy="43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85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BB0F1E-4C73-A220-DD61-6DC9138A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Apps erweitern die Funktionalität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41F9B9-F86B-73E5-DC2E-943CFF2B7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Pro App zumindest ein Docker-Container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D0F92A-0A2D-1926-00CB-75B317F7C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516"/>
            <a:ext cx="9144000" cy="272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24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E5217-0120-A5F8-2765-4BCF2316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2800" dirty="0"/>
              <a:t>Integrationen integrieren Geräte/Plattformen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056D91-0DA7-ADBC-DE73-B821C6D4C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980728"/>
            <a:ext cx="8207375" cy="4608165"/>
          </a:xfrm>
        </p:spPr>
        <p:txBody>
          <a:bodyPr/>
          <a:lstStyle/>
          <a:p>
            <a:r>
              <a:rPr lang="de-AT" dirty="0"/>
              <a:t>Stärke von HA </a:t>
            </a:r>
            <a:r>
              <a:rPr lang="de-AT" dirty="0">
                <a:sym typeface="Wingdings" panose="05000000000000000000" pitchFamily="2" charset="2"/>
              </a:rPr>
              <a:t> es ist praktisch alles integrierbar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Über </a:t>
            </a:r>
            <a:r>
              <a:rPr lang="de-AT" strike="sngStrike" dirty="0">
                <a:sym typeface="Wingdings" panose="05000000000000000000" pitchFamily="2" charset="2"/>
              </a:rPr>
              <a:t>2500</a:t>
            </a:r>
            <a:r>
              <a:rPr lang="de-AT" dirty="0">
                <a:sym typeface="Wingdings" panose="05000000000000000000" pitchFamily="2" charset="2"/>
              </a:rPr>
              <a:t> 3000 Integrationen</a:t>
            </a:r>
          </a:p>
          <a:p>
            <a:pPr lvl="1"/>
            <a:r>
              <a:rPr lang="de-AT" dirty="0">
                <a:sym typeface="Wingdings" panose="05000000000000000000" pitchFamily="2" charset="2"/>
              </a:rPr>
              <a:t>Zur Not über MQTT</a:t>
            </a:r>
          </a:p>
          <a:p>
            <a:pPr lvl="1"/>
            <a:r>
              <a:rPr lang="de-AT" dirty="0">
                <a:hlinkClick r:id="rId2"/>
              </a:rPr>
              <a:t>https://www.home-assistant.io/integrations</a:t>
            </a:r>
            <a:r>
              <a:rPr lang="de-AT" dirty="0">
                <a:sym typeface="Wingdings" panose="05000000000000000000" pitchFamily="2" charset="2"/>
              </a:rPr>
              <a:t> </a:t>
            </a:r>
            <a:endParaRPr lang="de-AT" dirty="0"/>
          </a:p>
        </p:txBody>
      </p:sp>
      <p:pic>
        <p:nvPicPr>
          <p:cNvPr id="6" name="Grafik 5" descr="Ein Bild, das Text, Screenshot, Computersymbol, Software enthält.&#10;&#10;KI-generierte Inhalte können fehlerhaft sein.">
            <a:extLst>
              <a:ext uri="{FF2B5EF4-FFF2-40B4-BE49-F238E27FC236}">
                <a16:creationId xmlns:a16="http://schemas.microsoft.com/office/drawing/2014/main" id="{E43E3E56-7FFD-7102-2741-DBF5E320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049878"/>
            <a:ext cx="6588224" cy="33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477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E4254B-C756-3855-801E-9F6D3E01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Eigene positive Erfahrungen mit …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53E16B-CD41-E65B-5B1C-06A9AEAE2C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Integration Homematic, Shelly, </a:t>
            </a:r>
            <a:r>
              <a:rPr lang="de-AT" sz="2400" dirty="0" err="1"/>
              <a:t>EspHome</a:t>
            </a:r>
            <a:r>
              <a:rPr lang="de-AT" sz="2400" dirty="0"/>
              <a:t>, Zigbee2Mqtt</a:t>
            </a:r>
          </a:p>
          <a:p>
            <a:r>
              <a:rPr lang="de-AT" sz="2400" dirty="0"/>
              <a:t>Anwendungen</a:t>
            </a:r>
          </a:p>
          <a:p>
            <a:pPr lvl="1"/>
            <a:r>
              <a:rPr lang="de-AT" sz="2000" dirty="0"/>
              <a:t>Garagentor überwachen und bedienen</a:t>
            </a:r>
          </a:p>
          <a:p>
            <a:pPr lvl="2"/>
            <a:r>
              <a:rPr lang="de-AT" sz="2000" dirty="0"/>
              <a:t>ZigBee, Alexa, Automatisierung</a:t>
            </a:r>
          </a:p>
          <a:p>
            <a:pPr lvl="1"/>
            <a:r>
              <a:rPr lang="de-AT" sz="2000" dirty="0"/>
              <a:t>Kameras mit </a:t>
            </a:r>
            <a:r>
              <a:rPr lang="de-AT" sz="2000" dirty="0" err="1"/>
              <a:t>Coralstick</a:t>
            </a:r>
            <a:r>
              <a:rPr lang="de-AT" sz="2000" dirty="0"/>
              <a:t> und </a:t>
            </a:r>
            <a:r>
              <a:rPr lang="de-AT" sz="2000" dirty="0" err="1"/>
              <a:t>Frigate</a:t>
            </a:r>
            <a:endParaRPr lang="de-AT" sz="2000" dirty="0"/>
          </a:p>
          <a:p>
            <a:pPr lvl="2"/>
            <a:r>
              <a:rPr lang="de-AT" sz="2000" dirty="0"/>
              <a:t>Personenerkennung und </a:t>
            </a:r>
            <a:r>
              <a:rPr lang="de-AT" sz="2000" dirty="0" err="1"/>
              <a:t>Notification</a:t>
            </a:r>
            <a:endParaRPr lang="de-AT" sz="2000" dirty="0"/>
          </a:p>
          <a:p>
            <a:pPr lvl="1"/>
            <a:r>
              <a:rPr lang="de-AT" sz="2000" dirty="0"/>
              <a:t>Tablet an der Eingangstür und am Schreibtisch</a:t>
            </a:r>
          </a:p>
          <a:p>
            <a:pPr lvl="1"/>
            <a:r>
              <a:rPr lang="de-AT" sz="2000" dirty="0"/>
              <a:t>Grüner Daumen mit verschiedenen Sensoren</a:t>
            </a:r>
          </a:p>
          <a:p>
            <a:pPr lvl="2"/>
            <a:r>
              <a:rPr lang="de-AT" sz="2000" dirty="0" err="1"/>
              <a:t>Zigbee</a:t>
            </a:r>
            <a:r>
              <a:rPr lang="de-AT" sz="2000" dirty="0"/>
              <a:t>, Bluetooth, 433MHz</a:t>
            </a:r>
          </a:p>
          <a:p>
            <a:pPr lvl="2"/>
            <a:r>
              <a:rPr lang="de-AT" sz="2000" dirty="0"/>
              <a:t>Teilautomatische Bewässerung</a:t>
            </a:r>
          </a:p>
          <a:p>
            <a:pPr lvl="1"/>
            <a:r>
              <a:rPr lang="de-AT" sz="2000" dirty="0"/>
              <a:t>Energiemanagement Wärmepumpe</a:t>
            </a:r>
          </a:p>
          <a:p>
            <a:pPr lvl="2"/>
            <a:r>
              <a:rPr lang="de-AT" sz="2000" dirty="0"/>
              <a:t>Modbus, API, …</a:t>
            </a:r>
          </a:p>
          <a:p>
            <a:pPr lvl="1"/>
            <a:r>
              <a:rPr lang="de-AT" sz="2200" dirty="0"/>
              <a:t>Smartlock mit </a:t>
            </a:r>
            <a:r>
              <a:rPr lang="de-AT" sz="2200" dirty="0" err="1"/>
              <a:t>Switchbot</a:t>
            </a:r>
            <a:r>
              <a:rPr lang="de-AT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8179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6523F-55A2-2021-E25D-C842EEEC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Kernthemen im Seminar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1C91BC-2850-2311-D3F4-B128C9C10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AI in verschiedenen Bereichen</a:t>
            </a:r>
          </a:p>
          <a:p>
            <a:pPr lvl="1"/>
            <a:r>
              <a:rPr lang="de-AT" dirty="0"/>
              <a:t>Assist mit Sprachsteuerung</a:t>
            </a:r>
          </a:p>
          <a:p>
            <a:pPr lvl="1"/>
            <a:r>
              <a:rPr lang="de-AT" dirty="0"/>
              <a:t>Erstellung von </a:t>
            </a:r>
            <a:r>
              <a:rPr lang="de-AT" dirty="0" err="1"/>
              <a:t>Automations</a:t>
            </a:r>
            <a:r>
              <a:rPr lang="de-AT" dirty="0"/>
              <a:t> und UI</a:t>
            </a:r>
          </a:p>
          <a:p>
            <a:pPr lvl="1"/>
            <a:r>
              <a:rPr lang="de-AT" dirty="0"/>
              <a:t>Gesichtserkennung bei Kamera</a:t>
            </a:r>
          </a:p>
          <a:p>
            <a:pPr lvl="1"/>
            <a:r>
              <a:rPr lang="de-AT" dirty="0"/>
              <a:t>Workflowsystem n8n</a:t>
            </a:r>
          </a:p>
          <a:p>
            <a:r>
              <a:rPr lang="de-AT" dirty="0"/>
              <a:t>Alarmanlage</a:t>
            </a:r>
          </a:p>
          <a:p>
            <a:pPr lvl="1"/>
            <a:r>
              <a:rPr lang="de-AT" dirty="0"/>
              <a:t>Eigenes Device auf Basis </a:t>
            </a:r>
            <a:r>
              <a:rPr lang="de-AT" dirty="0" err="1"/>
              <a:t>EspHome</a:t>
            </a:r>
            <a:endParaRPr lang="de-AT" dirty="0"/>
          </a:p>
          <a:p>
            <a:pPr lvl="1"/>
            <a:r>
              <a:rPr lang="de-AT" dirty="0" err="1"/>
              <a:t>Zigbee</a:t>
            </a:r>
            <a:r>
              <a:rPr lang="de-AT" dirty="0"/>
              <a:t>- und </a:t>
            </a:r>
            <a:r>
              <a:rPr lang="de-AT" dirty="0" err="1"/>
              <a:t>Mattergeräte</a:t>
            </a:r>
            <a:r>
              <a:rPr lang="de-AT" dirty="0"/>
              <a:t> als Ergänzung</a:t>
            </a:r>
          </a:p>
          <a:p>
            <a:pPr lvl="1"/>
            <a:r>
              <a:rPr lang="de-AT" dirty="0"/>
              <a:t>Integration </a:t>
            </a:r>
            <a:r>
              <a:rPr lang="de-AT" dirty="0" err="1"/>
              <a:t>Alarmo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647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8D5BB-7DD0-3D25-1B6B-A2053502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SwitchBot</a:t>
            </a:r>
            <a:r>
              <a:rPr lang="de-AT" dirty="0"/>
              <a:t> Lock Ultra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7B172-BA1B-ED67-CDE7-DCB6C3EFEB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512" y="1036367"/>
            <a:ext cx="8207375" cy="4608165"/>
          </a:xfrm>
        </p:spPr>
        <p:txBody>
          <a:bodyPr/>
          <a:lstStyle/>
          <a:p>
            <a:r>
              <a:rPr lang="de-AT" dirty="0"/>
              <a:t>Matter über eigenen Hub und Wifi (nicht Thread)</a:t>
            </a:r>
          </a:p>
          <a:p>
            <a:r>
              <a:rPr lang="de-AT" dirty="0" err="1"/>
              <a:t>Keypad</a:t>
            </a:r>
            <a:r>
              <a:rPr lang="de-AT" dirty="0"/>
              <a:t> mit Face-</a:t>
            </a:r>
            <a:r>
              <a:rPr lang="de-AT" dirty="0" err="1"/>
              <a:t>Detection</a:t>
            </a:r>
            <a:endParaRPr lang="de-AT" dirty="0"/>
          </a:p>
          <a:p>
            <a:r>
              <a:rPr lang="de-AT" dirty="0"/>
              <a:t>Alternativen: </a:t>
            </a:r>
            <a:r>
              <a:rPr lang="de-AT" dirty="0" err="1"/>
              <a:t>Nuki</a:t>
            </a:r>
            <a:r>
              <a:rPr lang="de-AT" dirty="0"/>
              <a:t>, </a:t>
            </a:r>
            <a:r>
              <a:rPr lang="de-AT" dirty="0" err="1"/>
              <a:t>Aqara</a:t>
            </a:r>
            <a:r>
              <a:rPr lang="de-AT" dirty="0"/>
              <a:t>, …</a:t>
            </a:r>
          </a:p>
          <a:p>
            <a:endParaRPr lang="de-AT" dirty="0"/>
          </a:p>
        </p:txBody>
      </p:sp>
      <p:pic>
        <p:nvPicPr>
          <p:cNvPr id="5" name="Grafik 4" descr="Ein Bild, das Text, Elektronik, Screenshot, Elektronisches Gerät enthält.&#10;&#10;KI-generierte Inhalte können fehlerhaft sein.">
            <a:extLst>
              <a:ext uri="{FF2B5EF4-FFF2-40B4-BE49-F238E27FC236}">
                <a16:creationId xmlns:a16="http://schemas.microsoft.com/office/drawing/2014/main" id="{18EC6CBF-F4E4-AB04-24A0-6BE88027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852936"/>
            <a:ext cx="6369840" cy="35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39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973080-D163-65C1-F7A2-193EF4E9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Energiemanagement mit PV und WP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3EEE2D-F19F-A726-D925-C35578CFAE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69D9FE-3E2E-0BC0-7C98-3D071D7C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257"/>
            <a:ext cx="9144000" cy="456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03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42148-E56E-B140-AB46-54954C3B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Grüner Daumen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1E25D-F527-CCB6-0A3A-0FCCFD2442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54767C-CE9C-3C58-7851-258626016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340768"/>
            <a:ext cx="4294729" cy="462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18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DFCD2-E3DF-209C-6F33-1F9B5EE9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AF2EA9-EF57-1C82-3D56-D801D3CFB6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1049" y="909067"/>
            <a:ext cx="8207375" cy="4608165"/>
          </a:xfrm>
        </p:spPr>
        <p:txBody>
          <a:bodyPr/>
          <a:lstStyle/>
          <a:p>
            <a:r>
              <a:rPr lang="de-AT" sz="2400" dirty="0" err="1"/>
              <a:t>Koubachi</a:t>
            </a:r>
            <a:r>
              <a:rPr lang="de-AT" sz="2400" dirty="0"/>
              <a:t> (ca. 2010) wurde von Gardena übernommen</a:t>
            </a:r>
          </a:p>
          <a:p>
            <a:pPr lvl="1"/>
            <a:r>
              <a:rPr lang="de-AT" sz="2000" dirty="0"/>
              <a:t>Sehr teuer (120€)</a:t>
            </a:r>
          </a:p>
          <a:p>
            <a:r>
              <a:rPr lang="de-AT" sz="2400" dirty="0" err="1"/>
              <a:t>Miflora</a:t>
            </a:r>
            <a:r>
              <a:rPr lang="de-AT" sz="2400" dirty="0"/>
              <a:t> von Xiaomi auf BLE</a:t>
            </a:r>
          </a:p>
          <a:p>
            <a:r>
              <a:rPr lang="de-AT" sz="2400" dirty="0" err="1"/>
              <a:t>Zigbee</a:t>
            </a:r>
            <a:r>
              <a:rPr lang="de-AT" sz="2400" dirty="0"/>
              <a:t>-Sensoren über </a:t>
            </a:r>
            <a:r>
              <a:rPr lang="de-AT" sz="2400" dirty="0" err="1"/>
              <a:t>AliExpress</a:t>
            </a:r>
            <a:endParaRPr lang="de-AT" sz="2400" dirty="0"/>
          </a:p>
          <a:p>
            <a:r>
              <a:rPr lang="de-AT" sz="2400" dirty="0"/>
              <a:t>433 MHz Sensoren</a:t>
            </a:r>
          </a:p>
          <a:p>
            <a:pPr lvl="1"/>
            <a:r>
              <a:rPr lang="de-AT" sz="2000" dirty="0"/>
              <a:t>Zubehör zu </a:t>
            </a:r>
            <a:r>
              <a:rPr lang="de-AT" sz="2000" dirty="0" err="1"/>
              <a:t>Misol</a:t>
            </a:r>
            <a:r>
              <a:rPr lang="de-AT" sz="2000" dirty="0"/>
              <a:t>-Wetterstation</a:t>
            </a:r>
          </a:p>
          <a:p>
            <a:endParaRPr lang="de-AT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43B864-C537-F0C4-6D6E-B9528B87A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524" y="3829786"/>
            <a:ext cx="1374926" cy="207607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A563E0-A086-1346-1DED-A0F3ACA99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80" y="1780122"/>
            <a:ext cx="2151311" cy="195465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17920AF-AD05-2A76-CF41-F9204D139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38" y="3729194"/>
            <a:ext cx="4191846" cy="312880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9C404A8-A494-E66A-90D2-C970CE63AA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991" y="3960440"/>
            <a:ext cx="2698009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23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6A0C2-5024-7E6C-B2AD-D8D6EBB0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Einfache Variante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18CE8D-6BA5-F79A-2DC9-F3D8BFBF2C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5D45B8-3227-22DF-E597-CB338B76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7696200" cy="29622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BBD3591-EFDD-F40C-3640-44733A848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934" y="3645024"/>
            <a:ext cx="4762261" cy="270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23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852F6-5354-F10E-9D10-AFE24E16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Pläne für die nächste Zeit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C03BDA-F64E-0DC2-F2F9-755147F656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400" dirty="0"/>
              <a:t>Monitoring und proaktives Maintenance</a:t>
            </a:r>
          </a:p>
          <a:p>
            <a:pPr lvl="1"/>
            <a:r>
              <a:rPr lang="de-AT" sz="2000" dirty="0"/>
              <a:t>Einsatz einer eigenen App, die auf meine Bedürfnisse zugeschnitten ist</a:t>
            </a:r>
          </a:p>
          <a:p>
            <a:pPr lvl="2"/>
            <a:r>
              <a:rPr lang="de-AT" sz="2000" dirty="0"/>
              <a:t>HA API</a:t>
            </a:r>
          </a:p>
          <a:p>
            <a:pPr lvl="2"/>
            <a:r>
              <a:rPr lang="de-AT" sz="2000" dirty="0" err="1"/>
              <a:t>Mqtt</a:t>
            </a:r>
            <a:endParaRPr lang="de-AT" sz="2000" dirty="0"/>
          </a:p>
          <a:p>
            <a:r>
              <a:rPr lang="de-AT" sz="2400" dirty="0"/>
              <a:t>Weiterentwicklung Energiemanagement</a:t>
            </a:r>
          </a:p>
          <a:p>
            <a:pPr lvl="1"/>
            <a:r>
              <a:rPr lang="de-AT" sz="2000" dirty="0"/>
              <a:t>Optimierungen Wärmepumpe</a:t>
            </a:r>
          </a:p>
          <a:p>
            <a:r>
              <a:rPr lang="de-AT" sz="2400" dirty="0"/>
              <a:t>Nutzung HA als Alarmanlage</a:t>
            </a:r>
          </a:p>
          <a:p>
            <a:r>
              <a:rPr lang="de-AT" sz="2400" dirty="0">
                <a:hlinkClick r:id="rId2"/>
              </a:rPr>
              <a:t>Elektronisches Türschloss</a:t>
            </a:r>
            <a:endParaRPr lang="de-AT" sz="2400" dirty="0"/>
          </a:p>
          <a:p>
            <a:r>
              <a:rPr lang="de-AT" sz="2400" dirty="0"/>
              <a:t>Neuaufsetzen des Systems</a:t>
            </a:r>
          </a:p>
          <a:p>
            <a:pPr lvl="1"/>
            <a:r>
              <a:rPr lang="de-AT" sz="2000" dirty="0"/>
              <a:t>Namenskonventionen</a:t>
            </a:r>
          </a:p>
          <a:p>
            <a:pPr lvl="1"/>
            <a:r>
              <a:rPr lang="de-AT" sz="2000" dirty="0"/>
              <a:t>Strikte Trennung Echtsystem/Entwicklungssystem</a:t>
            </a:r>
          </a:p>
        </p:txBody>
      </p:sp>
    </p:spTree>
    <p:extLst>
      <p:ext uri="{BB962C8B-B14F-4D97-AF65-F5344CB8AC3E}">
        <p14:creationId xmlns:p14="http://schemas.microsoft.com/office/powerpoint/2010/main" val="2834600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EB8BE3-E83F-2871-882B-D65246DC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Anregungen für die Miniprojekte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D15B12-9538-2DA1-E5CE-7E84CDF52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sz="2000" dirty="0" err="1"/>
              <a:t>Zigbee</a:t>
            </a:r>
            <a:r>
              <a:rPr lang="de-AT" sz="2000" dirty="0"/>
              <a:t> Experimente</a:t>
            </a:r>
          </a:p>
          <a:p>
            <a:pPr lvl="1"/>
            <a:r>
              <a:rPr lang="de-AT" sz="1800" dirty="0" err="1"/>
              <a:t>Sonoff</a:t>
            </a:r>
            <a:r>
              <a:rPr lang="de-AT" sz="1800" dirty="0"/>
              <a:t> oder Ethernet-</a:t>
            </a:r>
            <a:r>
              <a:rPr lang="de-AT" sz="1800" dirty="0" err="1"/>
              <a:t>Zigbee</a:t>
            </a:r>
            <a:r>
              <a:rPr lang="de-AT" sz="1800" dirty="0"/>
              <a:t> Stick</a:t>
            </a:r>
          </a:p>
          <a:p>
            <a:pPr lvl="1"/>
            <a:r>
              <a:rPr lang="de-AT" sz="1800" dirty="0"/>
              <a:t>Verschiedene Sensoren/Aktoren</a:t>
            </a:r>
          </a:p>
          <a:p>
            <a:r>
              <a:rPr lang="de-AT" sz="2000" dirty="0"/>
              <a:t>Pflanzenbetreuung mit </a:t>
            </a:r>
            <a:r>
              <a:rPr lang="de-AT" sz="2000" dirty="0" err="1"/>
              <a:t>Bluetoothproxy</a:t>
            </a:r>
            <a:r>
              <a:rPr lang="de-AT" sz="2000" dirty="0"/>
              <a:t>, </a:t>
            </a:r>
            <a:r>
              <a:rPr lang="de-AT" sz="2000" dirty="0" err="1"/>
              <a:t>Zigbee</a:t>
            </a:r>
            <a:r>
              <a:rPr lang="de-AT" sz="2000" dirty="0"/>
              <a:t> oder 433MHz</a:t>
            </a:r>
          </a:p>
          <a:p>
            <a:r>
              <a:rPr lang="de-AT" sz="2000" dirty="0" err="1"/>
              <a:t>ESPHome</a:t>
            </a:r>
            <a:r>
              <a:rPr lang="de-AT" sz="2000" dirty="0"/>
              <a:t> mit OLED und verschiedenen Sensoren/Aktoren</a:t>
            </a:r>
          </a:p>
          <a:p>
            <a:pPr lvl="1"/>
            <a:r>
              <a:rPr lang="de-AT" sz="1800" dirty="0"/>
              <a:t>Radarsensoren mit Zonen oder Kfz-tauglich</a:t>
            </a:r>
          </a:p>
          <a:p>
            <a:pPr lvl="1"/>
            <a:r>
              <a:rPr lang="de-AT" sz="1800" dirty="0"/>
              <a:t>ESP32-Kamera</a:t>
            </a:r>
          </a:p>
          <a:p>
            <a:pPr lvl="1"/>
            <a:r>
              <a:rPr lang="de-AT" sz="1800" dirty="0" err="1"/>
              <a:t>Airquality</a:t>
            </a:r>
            <a:r>
              <a:rPr lang="de-AT" sz="1800" dirty="0"/>
              <a:t>-Sensor (BME680)</a:t>
            </a:r>
          </a:p>
          <a:p>
            <a:pPr lvl="1"/>
            <a:r>
              <a:rPr lang="de-AT" sz="1800" dirty="0" err="1"/>
              <a:t>NiLi</a:t>
            </a:r>
            <a:r>
              <a:rPr lang="de-AT" sz="1800" dirty="0"/>
              <a:t> Sensorboxen</a:t>
            </a:r>
          </a:p>
          <a:p>
            <a:r>
              <a:rPr lang="de-AT" sz="2000" dirty="0"/>
              <a:t>Matter über Wifi</a:t>
            </a:r>
          </a:p>
          <a:p>
            <a:r>
              <a:rPr lang="de-AT" sz="2000" dirty="0" err="1"/>
              <a:t>Annke</a:t>
            </a:r>
            <a:r>
              <a:rPr lang="de-AT" sz="2000" dirty="0"/>
              <a:t>-Kamera und Coral-Stick (</a:t>
            </a:r>
            <a:r>
              <a:rPr lang="de-AT" sz="2000" dirty="0" err="1"/>
              <a:t>Frigate</a:t>
            </a:r>
            <a:r>
              <a:rPr lang="de-AT" sz="2000" dirty="0"/>
              <a:t>)</a:t>
            </a:r>
          </a:p>
          <a:p>
            <a:r>
              <a:rPr lang="de-AT" sz="2000" dirty="0" err="1"/>
              <a:t>Ulanzi</a:t>
            </a:r>
            <a:r>
              <a:rPr lang="de-AT" sz="2000" dirty="0"/>
              <a:t> Desktop Clock (</a:t>
            </a:r>
            <a:r>
              <a:rPr lang="de-AT" sz="2000" dirty="0">
                <a:hlinkClick r:id="rId2"/>
              </a:rPr>
              <a:t>https://blakadder.com/esphome-pixel-clock/</a:t>
            </a:r>
            <a:r>
              <a:rPr lang="de-AT" sz="2000" dirty="0"/>
              <a:t>)</a:t>
            </a:r>
          </a:p>
          <a:p>
            <a:r>
              <a:rPr lang="de-AT" sz="2000" dirty="0"/>
              <a:t>Experimente mit eigener Hardware</a:t>
            </a:r>
          </a:p>
        </p:txBody>
      </p:sp>
    </p:spTree>
    <p:extLst>
      <p:ext uri="{BB962C8B-B14F-4D97-AF65-F5344CB8AC3E}">
        <p14:creationId xmlns:p14="http://schemas.microsoft.com/office/powerpoint/2010/main" val="2979581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169E1-520E-F1E5-0BCA-80FCB0AE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Basisinstallation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9A9445-0456-CCFB-7FA2-4115997F0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2995DB-4724-A456-CB08-53336CF9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925185"/>
            <a:ext cx="5614194" cy="554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83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7BC50-93A4-42FE-7FB9-07B38647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 einspielen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851DA6-2743-BCFF-76AE-CD6EC4610C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679751" cy="4608165"/>
          </a:xfrm>
        </p:spPr>
        <p:txBody>
          <a:bodyPr/>
          <a:lstStyle/>
          <a:p>
            <a:r>
              <a:rPr lang="de-AT" dirty="0"/>
              <a:t>Backup von </a:t>
            </a:r>
            <a:r>
              <a:rPr lang="de-AT" dirty="0" err="1"/>
              <a:t>Github</a:t>
            </a:r>
            <a:r>
              <a:rPr lang="de-AT" dirty="0"/>
              <a:t> herunterladen</a:t>
            </a:r>
          </a:p>
          <a:p>
            <a:r>
              <a:rPr lang="de-AT" dirty="0"/>
              <a:t>Auf HA hochladen</a:t>
            </a:r>
          </a:p>
          <a:p>
            <a:r>
              <a:rPr lang="de-AT" dirty="0"/>
              <a:t>Nachher Instanz-ID ändern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1ECA0BA1-41DB-1C22-CDBD-9F5CD96F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1274684"/>
            <a:ext cx="3800255" cy="52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08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9726D-D48A-08B0-3462-C1DB7458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Ausgangssituation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A7356B-8A7C-355F-F804-3144E48411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Verfügbare Sensoren und Aktoren über </a:t>
            </a:r>
            <a:r>
              <a:rPr lang="de-AT" dirty="0" err="1"/>
              <a:t>Mqtt</a:t>
            </a:r>
            <a:endParaRPr lang="de-AT" dirty="0"/>
          </a:p>
          <a:p>
            <a:pPr lvl="1"/>
            <a:r>
              <a:rPr lang="de-AT" dirty="0" err="1"/>
              <a:t>Zigbee</a:t>
            </a:r>
            <a:endParaRPr lang="de-AT" dirty="0"/>
          </a:p>
          <a:p>
            <a:pPr lvl="2"/>
            <a:r>
              <a:rPr lang="de-AT" dirty="0"/>
              <a:t>Plug, </a:t>
            </a:r>
          </a:p>
          <a:p>
            <a:pPr lvl="1"/>
            <a:r>
              <a:rPr lang="de-AT" dirty="0" err="1"/>
              <a:t>EspHome</a:t>
            </a:r>
            <a:endParaRPr lang="de-AT" dirty="0"/>
          </a:p>
          <a:p>
            <a:pPr lvl="2"/>
            <a:r>
              <a:rPr lang="de-AT"/>
              <a:t>SensorBox</a:t>
            </a:r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26429516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1017</Words>
  <Application>Microsoft Office PowerPoint</Application>
  <PresentationFormat>Bildschirmpräsentation (4:3)</PresentationFormat>
  <Paragraphs>259</Paragraphs>
  <Slides>33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9" baseType="lpstr">
      <vt:lpstr>Arial</vt:lpstr>
      <vt:lpstr>Calibri</vt:lpstr>
      <vt:lpstr>Consolas</vt:lpstr>
      <vt:lpstr>Symbol</vt:lpstr>
      <vt:lpstr>Wingdings</vt:lpstr>
      <vt:lpstr>2_Larissa</vt:lpstr>
      <vt:lpstr>Kursunterlagen</vt:lpstr>
      <vt:lpstr>Geplanter Ablauf - Montag</vt:lpstr>
      <vt:lpstr>Geplanter Ablauf - Dienstag</vt:lpstr>
      <vt:lpstr>Geplanter Ablauf - Mittwoch</vt:lpstr>
      <vt:lpstr>Kurs-HW  - Home Assistant</vt:lpstr>
      <vt:lpstr>SmartHome – WOZU?</vt:lpstr>
      <vt:lpstr>Neuigkeiten seit dem Vorjahr</vt:lpstr>
      <vt:lpstr>Voraussetzungen für smartes Home</vt:lpstr>
      <vt:lpstr>Aktuelle Situation blieb fast unverändert</vt:lpstr>
      <vt:lpstr>Wieso also immer noch  HomeAssistant?</vt:lpstr>
      <vt:lpstr>Und wieso auch nicht!</vt:lpstr>
      <vt:lpstr>HA – Installationsmethoden (SW)</vt:lpstr>
      <vt:lpstr>Hardware-Plattformen</vt:lpstr>
      <vt:lpstr>Remote Access ist notwendig</vt:lpstr>
      <vt:lpstr>Was kann ich mit HA machen?</vt:lpstr>
      <vt:lpstr>Visualisierung </vt:lpstr>
      <vt:lpstr>Companion-App ist sehr zu empfehlen</vt:lpstr>
      <vt:lpstr>Notification per HA-App oder Handy</vt:lpstr>
      <vt:lpstr>Tablet als günstige Zentrale</vt:lpstr>
      <vt:lpstr>Apps erweitern die Funktionalität</vt:lpstr>
      <vt:lpstr>Integrationen integrieren Geräte/Plattformen</vt:lpstr>
      <vt:lpstr>Eigene positive Erfahrungen mit …</vt:lpstr>
      <vt:lpstr>Kernthemen im Seminar</vt:lpstr>
      <vt:lpstr>SwitchBot Lock Ultra </vt:lpstr>
      <vt:lpstr>Energiemanagement mit PV und WP</vt:lpstr>
      <vt:lpstr>Grüner Daumen</vt:lpstr>
      <vt:lpstr>Sensoren</vt:lpstr>
      <vt:lpstr>Einfache Variante</vt:lpstr>
      <vt:lpstr>Pläne für die nächste Zeit</vt:lpstr>
      <vt:lpstr>Anregungen für die Miniprojekte</vt:lpstr>
      <vt:lpstr>Basisinstallation</vt:lpstr>
      <vt:lpstr>Backup einspielen</vt:lpstr>
      <vt:lpstr>Ausgangssituation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885</cp:revision>
  <dcterms:created xsi:type="dcterms:W3CDTF">2011-08-18T07:37:01Z</dcterms:created>
  <dcterms:modified xsi:type="dcterms:W3CDTF">2026-02-28T19:31:22Z</dcterms:modified>
</cp:coreProperties>
</file>