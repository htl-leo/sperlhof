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6" r:id="rId1"/>
  </p:sldMasterIdLst>
  <p:notesMasterIdLst>
    <p:notesMasterId r:id="rId36"/>
  </p:notesMasterIdLst>
  <p:handoutMasterIdLst>
    <p:handoutMasterId r:id="rId37"/>
  </p:handoutMasterIdLst>
  <p:sldIdLst>
    <p:sldId id="1206" r:id="rId2"/>
    <p:sldId id="1173" r:id="rId3"/>
    <p:sldId id="1184" r:id="rId4"/>
    <p:sldId id="1186" r:id="rId5"/>
    <p:sldId id="1188" r:id="rId6"/>
    <p:sldId id="1200" r:id="rId7"/>
    <p:sldId id="1158" r:id="rId8"/>
    <p:sldId id="1189" r:id="rId9"/>
    <p:sldId id="1159" r:id="rId10"/>
    <p:sldId id="1160" r:id="rId11"/>
    <p:sldId id="1144" r:id="rId12"/>
    <p:sldId id="1201" r:id="rId13"/>
    <p:sldId id="1168" r:id="rId14"/>
    <p:sldId id="1148" r:id="rId15"/>
    <p:sldId id="1181" r:id="rId16"/>
    <p:sldId id="1149" r:id="rId17"/>
    <p:sldId id="1150" r:id="rId18"/>
    <p:sldId id="1176" r:id="rId19"/>
    <p:sldId id="1152" r:id="rId20"/>
    <p:sldId id="1177" r:id="rId21"/>
    <p:sldId id="1178" r:id="rId22"/>
    <p:sldId id="1179" r:id="rId23"/>
    <p:sldId id="1190" r:id="rId24"/>
    <p:sldId id="1205" r:id="rId25"/>
    <p:sldId id="1202" r:id="rId26"/>
    <p:sldId id="1192" r:id="rId27"/>
    <p:sldId id="1198" r:id="rId28"/>
    <p:sldId id="1195" r:id="rId29"/>
    <p:sldId id="1193" r:id="rId30"/>
    <p:sldId id="1191" r:id="rId31"/>
    <p:sldId id="1196" r:id="rId32"/>
    <p:sldId id="1187" r:id="rId33"/>
    <p:sldId id="1203" r:id="rId34"/>
    <p:sldId id="1204" r:id="rId35"/>
  </p:sldIdLst>
  <p:sldSz cx="9144000" cy="6858000" type="screen4x3"/>
  <p:notesSz cx="6797675" cy="9926638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0000"/>
    <a:srgbClr val="FFAA01"/>
    <a:srgbClr val="F99707"/>
    <a:srgbClr val="FCB504"/>
    <a:srgbClr val="B52217"/>
    <a:srgbClr val="960000"/>
    <a:srgbClr val="A40000"/>
    <a:srgbClr val="D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2353" autoAdjust="0"/>
  </p:normalViewPr>
  <p:slideViewPr>
    <p:cSldViewPr>
      <p:cViewPr varScale="1">
        <p:scale>
          <a:sx n="87" d="100"/>
          <a:sy n="87" d="100"/>
        </p:scale>
        <p:origin x="2202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322"/>
    </p:cViewPr>
  </p:sorterViewPr>
  <p:notesViewPr>
    <p:cSldViewPr>
      <p:cViewPr varScale="1">
        <p:scale>
          <a:sx n="81" d="100"/>
          <a:sy n="81" d="100"/>
        </p:scale>
        <p:origin x="-2844" y="-9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87F52D72-ED1D-48E3-B38D-D27DF71D5328}" type="datetimeFigureOut">
              <a:rPr lang="de-AT"/>
              <a:pPr>
                <a:defRPr/>
              </a:pPr>
              <a:t>08.03.2026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B8876E5-8CB2-488D-BB52-3FDCCA373F31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48035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3163736-15EA-4775-815E-DDF88F21B7ED}" type="datetimeFigureOut">
              <a:rPr lang="de-AT"/>
              <a:pPr>
                <a:defRPr/>
              </a:pPr>
              <a:t>08.03.2026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AT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6EAC6C9-0F3A-40E0-896B-88DE66496CB5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1234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6EAC6C9-0F3A-40E0-896B-88DE66496CB5}" type="slidenum">
              <a:rPr lang="de-AT" smtClean="0"/>
              <a:pPr>
                <a:defRPr/>
              </a:pPr>
              <a:t>5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8115897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6EAC6C9-0F3A-40E0-896B-88DE66496CB5}" type="slidenum">
              <a:rPr lang="de-AT" smtClean="0"/>
              <a:pPr>
                <a:defRPr/>
              </a:pPr>
              <a:t>10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660887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dirty="0"/>
              <a:t>Ca. 9kWh/W </a:t>
            </a:r>
            <a:r>
              <a:rPr lang="de-AT" dirty="0">
                <a:sym typeface="Wingdings" panose="05000000000000000000" pitchFamily="2" charset="2"/>
              </a:rPr>
              <a:t> ca. 3€/Watt </a:t>
            </a:r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6EAC6C9-0F3A-40E0-896B-88DE66496CB5}" type="slidenum">
              <a:rPr lang="de-AT" smtClean="0"/>
              <a:pPr>
                <a:defRPr/>
              </a:pPr>
              <a:t>14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7647913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6EAC6C9-0F3A-40E0-896B-88DE66496CB5}" type="slidenum">
              <a:rPr lang="de-AT" smtClean="0"/>
              <a:pPr>
                <a:defRPr/>
              </a:pPr>
              <a:t>28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1596227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4879B4"/>
              </a:gs>
              <a:gs pos="0">
                <a:schemeClr val="tx2"/>
              </a:gs>
              <a:gs pos="50000">
                <a:schemeClr val="accent1"/>
              </a:gs>
              <a:gs pos="100000">
                <a:schemeClr val="tx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12" name="Rechteck 11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C5A4FFB9-E613-43CD-964A-AE1E9E6225EE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tl-leo/sperlhof" TargetMode="Externa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jpeg"/><Relationship Id="rId9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home-assistant.io/" TargetMode="Externa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home-assistant.io/installation/" TargetMode="Externa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ichelt.de/de/de/barebone-pc-brix-gb-bmpd-6005-gb-bmpd-6005-p327306.html?PROVID=2788&amp;&amp;r=1&amp;gclid=Cj0KCQiAsoycBhC6ARIsAPPbeLssHV-oHm1JPbvF8I1jtClGwSqG6yIezE4Lrs4caFJN_9D8VgHP_yoaAgULEALw_wcB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hasshmo.dynv6.net/dashboard-tablet/0" TargetMode="Externa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www.home-assistant.io/integrations" TargetMode="Externa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nuki.io/de-at/produkte/smart-lock-pro-5-gen" TargetMode="Externa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blakadder.com/esphome-pixel-clock/" TargetMode="Externa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C9FEAD-452F-410C-B49B-69E1589FD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Herzlich willkommen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4241E26-9F87-FE5C-BDB1-15D734661B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Kurzer Rückblick</a:t>
            </a:r>
          </a:p>
          <a:p>
            <a:pPr lvl="1"/>
            <a:r>
              <a:rPr lang="de-AT" dirty="0"/>
              <a:t>Seminare zu unterschiedlichen Themen seit 2013</a:t>
            </a:r>
          </a:p>
          <a:p>
            <a:pPr lvl="2"/>
            <a:r>
              <a:rPr lang="de-AT" dirty="0"/>
              <a:t>Android, </a:t>
            </a:r>
            <a:r>
              <a:rPr lang="de-AT" dirty="0" err="1"/>
              <a:t>Kotlin</a:t>
            </a:r>
            <a:r>
              <a:rPr lang="de-AT" dirty="0"/>
              <a:t>, IoT mit ESP32, Home Assistant</a:t>
            </a:r>
          </a:p>
          <a:p>
            <a:pPr lvl="2"/>
            <a:r>
              <a:rPr lang="de-AT" dirty="0"/>
              <a:t>Großteils im </a:t>
            </a:r>
            <a:r>
              <a:rPr lang="de-AT" dirty="0" err="1"/>
              <a:t>Sperlhof</a:t>
            </a:r>
            <a:endParaRPr lang="de-AT"/>
          </a:p>
          <a:p>
            <a:pPr lvl="2"/>
            <a:endParaRPr lang="de-AT" dirty="0"/>
          </a:p>
          <a:p>
            <a:r>
              <a:rPr lang="de-AT" dirty="0"/>
              <a:t>Danke für etliche treue Wiederholungstäter</a:t>
            </a:r>
          </a:p>
          <a:p>
            <a:r>
              <a:rPr lang="de-AT" dirty="0"/>
              <a:t>Motivation für mich</a:t>
            </a:r>
          </a:p>
          <a:p>
            <a:r>
              <a:rPr lang="de-AT" dirty="0"/>
              <a:t>Nächstes Jahr als Teilnehmer bei Gerhards Seminar</a:t>
            </a:r>
          </a:p>
          <a:p>
            <a:endParaRPr lang="de-AT" dirty="0"/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9369260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8BCD45-5702-3D20-4C13-73C6ADCDA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Kursunterlagen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62AD668-C3FB-A685-CECD-6119ADE90B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1052736"/>
            <a:ext cx="8207375" cy="4608165"/>
          </a:xfrm>
        </p:spPr>
        <p:txBody>
          <a:bodyPr/>
          <a:lstStyle/>
          <a:p>
            <a:endParaRPr lang="de-AT" sz="2800" dirty="0"/>
          </a:p>
          <a:p>
            <a:r>
              <a:rPr lang="de-AT" sz="2800" dirty="0"/>
              <a:t>IoT-Netz</a:t>
            </a:r>
          </a:p>
          <a:p>
            <a:pPr lvl="1"/>
            <a:r>
              <a:rPr lang="de-AT" sz="2800" dirty="0" err="1"/>
              <a:t>iot</a:t>
            </a:r>
            <a:r>
              <a:rPr lang="de-AT" sz="2800" dirty="0"/>
              <a:t>/</a:t>
            </a:r>
            <a:r>
              <a:rPr lang="de-AT" sz="2800" dirty="0" err="1"/>
              <a:t>smarthome</a:t>
            </a:r>
            <a:endParaRPr lang="de-AT" sz="2800" dirty="0"/>
          </a:p>
          <a:p>
            <a:pPr lvl="1"/>
            <a:endParaRPr lang="de-AT" sz="2800" dirty="0"/>
          </a:p>
          <a:p>
            <a:r>
              <a:rPr lang="de-AT" sz="2800" dirty="0" err="1"/>
              <a:t>Github</a:t>
            </a:r>
            <a:endParaRPr lang="de-AT" sz="2800" dirty="0"/>
          </a:p>
          <a:p>
            <a:pPr lvl="1"/>
            <a:r>
              <a:rPr lang="de-AT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hlinkClick r:id="rId2"/>
              </a:rPr>
              <a:t>https://github.com/htl-leo/sperlhof</a:t>
            </a:r>
            <a:r>
              <a:rPr lang="de-AT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</a:p>
          <a:p>
            <a:pPr lvl="1"/>
            <a:endParaRPr lang="de-AT" sz="2800" dirty="0"/>
          </a:p>
          <a:p>
            <a:endParaRPr lang="de-AT" sz="2800" dirty="0"/>
          </a:p>
        </p:txBody>
      </p:sp>
    </p:spTree>
    <p:extLst>
      <p:ext uri="{BB962C8B-B14F-4D97-AF65-F5344CB8AC3E}">
        <p14:creationId xmlns:p14="http://schemas.microsoft.com/office/powerpoint/2010/main" val="2322289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67EBDB-4DA8-854E-D435-D711052FA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Geplanter Ablauf - Montag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53510C1-924C-6C11-6833-52C8DE0734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1197099"/>
            <a:ext cx="8207375" cy="4608165"/>
          </a:xfrm>
        </p:spPr>
        <p:txBody>
          <a:bodyPr/>
          <a:lstStyle/>
          <a:p>
            <a:r>
              <a:rPr lang="de-AT" dirty="0"/>
              <a:t>Einführung</a:t>
            </a:r>
          </a:p>
          <a:p>
            <a:r>
              <a:rPr lang="de-AT" dirty="0"/>
              <a:t>Infrastruktur</a:t>
            </a:r>
          </a:p>
          <a:p>
            <a:pPr lvl="1"/>
            <a:r>
              <a:rPr lang="de-AT" dirty="0"/>
              <a:t>Installation unter </a:t>
            </a:r>
            <a:r>
              <a:rPr lang="de-AT" dirty="0" err="1"/>
              <a:t>Proxmox</a:t>
            </a:r>
            <a:endParaRPr lang="de-AT" dirty="0"/>
          </a:p>
          <a:p>
            <a:pPr lvl="1"/>
            <a:r>
              <a:rPr lang="de-AT" dirty="0" err="1"/>
              <a:t>HomeAssistant</a:t>
            </a:r>
            <a:r>
              <a:rPr lang="de-AT" dirty="0"/>
              <a:t> App</a:t>
            </a:r>
          </a:p>
          <a:p>
            <a:pPr lvl="1"/>
            <a:r>
              <a:rPr lang="de-AT" dirty="0"/>
              <a:t>IoT- Plattformen (</a:t>
            </a:r>
            <a:r>
              <a:rPr lang="de-AT" dirty="0" err="1"/>
              <a:t>Mqtt</a:t>
            </a:r>
            <a:r>
              <a:rPr lang="de-AT" dirty="0"/>
              <a:t>, </a:t>
            </a:r>
            <a:r>
              <a:rPr lang="de-AT" dirty="0" err="1"/>
              <a:t>Zigbee</a:t>
            </a:r>
            <a:r>
              <a:rPr lang="de-AT" dirty="0"/>
              <a:t>, Wifi, Bluetooth, …)</a:t>
            </a:r>
          </a:p>
          <a:p>
            <a:r>
              <a:rPr lang="de-AT" sz="2400" dirty="0"/>
              <a:t>ESP-Home</a:t>
            </a:r>
          </a:p>
          <a:p>
            <a:pPr lvl="1"/>
            <a:r>
              <a:rPr lang="de-AT" sz="2000" dirty="0" err="1"/>
              <a:t>AlarmBox</a:t>
            </a:r>
            <a:r>
              <a:rPr lang="de-AT" sz="2000" dirty="0"/>
              <a:t> unter </a:t>
            </a:r>
            <a:r>
              <a:rPr lang="de-AT" sz="2000" dirty="0" err="1"/>
              <a:t>ESPHome</a:t>
            </a:r>
            <a:r>
              <a:rPr lang="de-AT" sz="2000" dirty="0"/>
              <a:t> CLI</a:t>
            </a:r>
          </a:p>
          <a:p>
            <a:pPr lvl="2"/>
            <a:r>
              <a:rPr lang="de-AT" sz="2000" dirty="0"/>
              <a:t>Bewegungsmelder als Sensor</a:t>
            </a:r>
          </a:p>
          <a:p>
            <a:pPr lvl="2"/>
            <a:r>
              <a:rPr lang="de-AT" sz="2000" dirty="0"/>
              <a:t>OLED-Display</a:t>
            </a:r>
          </a:p>
          <a:p>
            <a:pPr lvl="2"/>
            <a:r>
              <a:rPr lang="de-AT" sz="2000" dirty="0"/>
              <a:t>Temperatursensor</a:t>
            </a:r>
          </a:p>
          <a:p>
            <a:pPr lvl="2"/>
            <a:r>
              <a:rPr lang="de-AT" sz="2000" dirty="0"/>
              <a:t>Buzzer als Sirenenersatz</a:t>
            </a:r>
          </a:p>
          <a:p>
            <a:pPr lvl="1"/>
            <a:endParaRPr lang="de-AT" dirty="0"/>
          </a:p>
          <a:p>
            <a:pPr lvl="1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017910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67EBDB-4DA8-854E-D435-D711052FA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Geplanter Ablauf - </a:t>
            </a:r>
            <a:r>
              <a:rPr lang="de-AT" sz="3200" dirty="0"/>
              <a:t>Dienstag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53510C1-924C-6C11-6833-52C8DE0734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980728"/>
            <a:ext cx="8207375" cy="4608165"/>
          </a:xfrm>
        </p:spPr>
        <p:txBody>
          <a:bodyPr/>
          <a:lstStyle/>
          <a:p>
            <a:r>
              <a:rPr lang="de-AT" sz="2400" dirty="0" err="1"/>
              <a:t>HomeAssistant</a:t>
            </a:r>
            <a:r>
              <a:rPr lang="de-AT" sz="2400" dirty="0"/>
              <a:t> und AI</a:t>
            </a:r>
          </a:p>
          <a:p>
            <a:pPr lvl="1"/>
            <a:r>
              <a:rPr lang="de-AT" sz="2000" dirty="0"/>
              <a:t>Sprachassistenten lokal und in der Cloud</a:t>
            </a:r>
          </a:p>
          <a:p>
            <a:pPr lvl="1"/>
            <a:r>
              <a:rPr lang="de-AT" sz="2000" dirty="0"/>
              <a:t>AI-Unterstützung bei Entwicklung und Betrieb</a:t>
            </a:r>
          </a:p>
          <a:p>
            <a:pPr lvl="1"/>
            <a:r>
              <a:rPr lang="de-AT" sz="2000" dirty="0"/>
              <a:t>Workflows mit AI-Unterstützung</a:t>
            </a:r>
          </a:p>
          <a:p>
            <a:r>
              <a:rPr lang="de-AT" sz="2400" dirty="0"/>
              <a:t>Alarmanlage mit </a:t>
            </a:r>
            <a:r>
              <a:rPr lang="de-AT" sz="2400" dirty="0" err="1"/>
              <a:t>Alarmo</a:t>
            </a:r>
            <a:endParaRPr lang="de-AT" sz="2400" dirty="0"/>
          </a:p>
          <a:p>
            <a:pPr lvl="1"/>
            <a:r>
              <a:rPr lang="de-AT" dirty="0"/>
              <a:t>Einbindung der Sensoren und Aktoren</a:t>
            </a:r>
          </a:p>
          <a:p>
            <a:pPr lvl="2"/>
            <a:r>
              <a:rPr lang="de-AT" dirty="0" err="1"/>
              <a:t>Alarmbox</a:t>
            </a:r>
            <a:endParaRPr lang="de-AT" dirty="0"/>
          </a:p>
          <a:p>
            <a:r>
              <a:rPr lang="de-AT" sz="2400" dirty="0"/>
              <a:t>Betrieb und Wartung von </a:t>
            </a:r>
            <a:r>
              <a:rPr lang="de-AT" sz="2400" dirty="0" err="1"/>
              <a:t>HomeAssistant</a:t>
            </a:r>
            <a:endParaRPr lang="de-AT" sz="2000" dirty="0"/>
          </a:p>
          <a:p>
            <a:pPr lvl="1"/>
            <a:r>
              <a:rPr lang="de-AT" sz="2000" dirty="0"/>
              <a:t>Tools für den Betrieb</a:t>
            </a:r>
          </a:p>
          <a:p>
            <a:pPr lvl="1"/>
            <a:r>
              <a:rPr lang="de-AT" sz="2000" dirty="0"/>
              <a:t>Home Assistant im Verbund mit externen Services</a:t>
            </a:r>
          </a:p>
          <a:p>
            <a:r>
              <a:rPr lang="de-AT" sz="2400" dirty="0"/>
              <a:t>Miniprojekte für Mittwoch definieren</a:t>
            </a:r>
          </a:p>
        </p:txBody>
      </p:sp>
    </p:spTree>
    <p:extLst>
      <p:ext uri="{BB962C8B-B14F-4D97-AF65-F5344CB8AC3E}">
        <p14:creationId xmlns:p14="http://schemas.microsoft.com/office/powerpoint/2010/main" val="4121085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67EBDB-4DA8-854E-D435-D711052FA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Geplanter Ablauf - </a:t>
            </a:r>
            <a:r>
              <a:rPr lang="de-AT" sz="3200" dirty="0"/>
              <a:t>Mittwoch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53510C1-924C-6C11-6833-52C8DE0734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980728"/>
            <a:ext cx="8207375" cy="4608165"/>
          </a:xfrm>
        </p:spPr>
        <p:txBody>
          <a:bodyPr/>
          <a:lstStyle/>
          <a:p>
            <a:r>
              <a:rPr lang="de-AT" sz="2800" dirty="0"/>
              <a:t>Miniprojekte in Kleingruppen</a:t>
            </a:r>
          </a:p>
          <a:p>
            <a:r>
              <a:rPr lang="de-AT" sz="2800" dirty="0"/>
              <a:t>Streifzug durch interessante Lösungen der Seminarteilnehmer</a:t>
            </a:r>
          </a:p>
          <a:p>
            <a:r>
              <a:rPr lang="de-AT" sz="2800" dirty="0"/>
              <a:t>Präsentationen</a:t>
            </a:r>
          </a:p>
        </p:txBody>
      </p:sp>
    </p:spTree>
    <p:extLst>
      <p:ext uri="{BB962C8B-B14F-4D97-AF65-F5344CB8AC3E}">
        <p14:creationId xmlns:p14="http://schemas.microsoft.com/office/powerpoint/2010/main" val="1748881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62FEDB-560A-0AA1-FC34-261499BEA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Kurs-HW  - Home Assistant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D24981E-A718-6C22-D348-9E00582EB5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Eigene Infrastruktur</a:t>
            </a:r>
          </a:p>
          <a:p>
            <a:pPr lvl="1"/>
            <a:r>
              <a:rPr lang="de-AT" dirty="0" err="1"/>
              <a:t>Raspi</a:t>
            </a:r>
            <a:r>
              <a:rPr lang="de-AT" dirty="0"/>
              <a:t> 3/4/Mini PC/Altes Notebook, …</a:t>
            </a:r>
          </a:p>
          <a:p>
            <a:pPr lvl="2"/>
            <a:r>
              <a:rPr lang="de-AT" dirty="0"/>
              <a:t>PI3 hat nur 1GB RAM</a:t>
            </a:r>
          </a:p>
          <a:p>
            <a:r>
              <a:rPr lang="de-AT" dirty="0"/>
              <a:t>Von meiner Seite</a:t>
            </a:r>
          </a:p>
          <a:p>
            <a:pPr lvl="1"/>
            <a:r>
              <a:rPr lang="de-AT" dirty="0"/>
              <a:t>2 </a:t>
            </a:r>
            <a:r>
              <a:rPr lang="de-AT" dirty="0" err="1"/>
              <a:t>Proxmox</a:t>
            </a:r>
            <a:r>
              <a:rPr lang="de-AT" dirty="0"/>
              <a:t>-Rechner</a:t>
            </a:r>
          </a:p>
          <a:p>
            <a:pPr lvl="2"/>
            <a:r>
              <a:rPr lang="de-AT" dirty="0"/>
              <a:t>HP-Rechner:	200 - 204</a:t>
            </a:r>
          </a:p>
          <a:p>
            <a:pPr lvl="2"/>
            <a:r>
              <a:rPr lang="de-AT" dirty="0"/>
              <a:t>Mini-PC: 		205 – 208</a:t>
            </a:r>
          </a:p>
          <a:p>
            <a:pPr lvl="1"/>
            <a:r>
              <a:rPr lang="de-AT" dirty="0"/>
              <a:t>Raspberry PI 4:	220, 221</a:t>
            </a:r>
          </a:p>
          <a:p>
            <a:pPr lvl="1"/>
            <a:r>
              <a:rPr lang="de-AT" dirty="0"/>
              <a:t>Raspberry PI 3:	</a:t>
            </a:r>
          </a:p>
        </p:txBody>
      </p:sp>
    </p:spTree>
    <p:extLst>
      <p:ext uri="{BB962C8B-B14F-4D97-AF65-F5344CB8AC3E}">
        <p14:creationId xmlns:p14="http://schemas.microsoft.com/office/powerpoint/2010/main" val="1496233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1FD953-6B06-5A01-46C8-D8F91A8A1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SmartHome – WOZU?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454CFEB-6B22-10B1-718A-662DEDA4D0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980728"/>
            <a:ext cx="8207375" cy="4608165"/>
          </a:xfrm>
        </p:spPr>
        <p:txBody>
          <a:bodyPr/>
          <a:lstStyle/>
          <a:p>
            <a:r>
              <a:rPr lang="de-AT" dirty="0"/>
              <a:t>Bequemlichkeit und Zeitersparnis</a:t>
            </a:r>
          </a:p>
          <a:p>
            <a:pPr lvl="1"/>
            <a:r>
              <a:rPr lang="de-AT" dirty="0"/>
              <a:t>Saugroboter</a:t>
            </a:r>
          </a:p>
          <a:p>
            <a:pPr lvl="1"/>
            <a:r>
              <a:rPr lang="de-AT" dirty="0"/>
              <a:t>Automatische Bewässerung</a:t>
            </a:r>
          </a:p>
          <a:p>
            <a:pPr lvl="1"/>
            <a:r>
              <a:rPr lang="de-AT" dirty="0"/>
              <a:t>Sprachsteuerung</a:t>
            </a:r>
          </a:p>
          <a:p>
            <a:r>
              <a:rPr lang="de-AT" dirty="0"/>
              <a:t>Energieeffizienz</a:t>
            </a:r>
          </a:p>
          <a:p>
            <a:pPr lvl="1"/>
            <a:r>
              <a:rPr lang="de-AT" dirty="0"/>
              <a:t>Erzeuger/Verbraucher gezielt schalten</a:t>
            </a:r>
          </a:p>
          <a:p>
            <a:r>
              <a:rPr lang="de-AT" dirty="0"/>
              <a:t>Neue Möglichkeiten</a:t>
            </a:r>
          </a:p>
          <a:p>
            <a:pPr lvl="1"/>
            <a:r>
              <a:rPr lang="de-AT" dirty="0"/>
              <a:t>Rollläden in Abhängigkeit des Sonnenstands und der Anwesenheit von Personen rauf- und runter fahren</a:t>
            </a:r>
          </a:p>
          <a:p>
            <a:r>
              <a:rPr lang="de-AT" dirty="0"/>
              <a:t>WAF</a:t>
            </a:r>
          </a:p>
        </p:txBody>
      </p:sp>
    </p:spTree>
    <p:extLst>
      <p:ext uri="{BB962C8B-B14F-4D97-AF65-F5344CB8AC3E}">
        <p14:creationId xmlns:p14="http://schemas.microsoft.com/office/powerpoint/2010/main" val="127280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021DB8-2B72-AE7F-9522-FA8132FDA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Neuigkeiten seit dem Vorjahr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408EC38-75F8-9ADC-3ACB-94AE71A0BD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1052736"/>
            <a:ext cx="8207375" cy="4608165"/>
          </a:xfrm>
        </p:spPr>
        <p:txBody>
          <a:bodyPr/>
          <a:lstStyle/>
          <a:p>
            <a:r>
              <a:rPr lang="de-AT" sz="2000" dirty="0" err="1"/>
              <a:t>UserInterfaces</a:t>
            </a:r>
            <a:r>
              <a:rPr lang="de-AT" sz="2000" dirty="0"/>
              <a:t> mit Abschnitten</a:t>
            </a:r>
          </a:p>
          <a:p>
            <a:pPr lvl="1"/>
            <a:r>
              <a:rPr lang="de-AT" sz="2000" dirty="0"/>
              <a:t>Wird monatlich weiter entwickelt</a:t>
            </a:r>
          </a:p>
          <a:p>
            <a:pPr lvl="1"/>
            <a:r>
              <a:rPr lang="de-AT" sz="2000" dirty="0"/>
              <a:t>Einfache Konfiguration für Standardanzeigen</a:t>
            </a:r>
          </a:p>
          <a:p>
            <a:r>
              <a:rPr lang="de-AT" sz="2000" dirty="0"/>
              <a:t>Matter macht kleine Schritte nach vorne</a:t>
            </a:r>
          </a:p>
          <a:p>
            <a:pPr lvl="1"/>
            <a:r>
              <a:rPr lang="de-AT" sz="1800" dirty="0"/>
              <a:t>Geräte vielfach mit Wifi, Thread noch nicht so verbreitet</a:t>
            </a:r>
          </a:p>
          <a:p>
            <a:pPr lvl="1"/>
            <a:r>
              <a:rPr lang="de-AT" sz="1800" dirty="0"/>
              <a:t>Matter für Sprachsteuerung sehr praktisch </a:t>
            </a:r>
          </a:p>
          <a:p>
            <a:pPr lvl="2"/>
            <a:r>
              <a:rPr lang="de-AT" sz="1600" dirty="0"/>
              <a:t>Weil von Google und Amazon unterstützt</a:t>
            </a:r>
          </a:p>
          <a:p>
            <a:pPr lvl="2"/>
            <a:r>
              <a:rPr lang="de-AT" sz="1600" dirty="0"/>
              <a:t>HA als </a:t>
            </a:r>
            <a:r>
              <a:rPr lang="de-AT" sz="1600" dirty="0" err="1"/>
              <a:t>Borderrouter</a:t>
            </a:r>
            <a:r>
              <a:rPr lang="de-AT" sz="1600" dirty="0"/>
              <a:t> </a:t>
            </a:r>
            <a:r>
              <a:rPr lang="de-AT" sz="1600" dirty="0">
                <a:sym typeface="Wingdings" panose="05000000000000000000" pitchFamily="2" charset="2"/>
              </a:rPr>
              <a:t> Geräte in Matter verfügbar</a:t>
            </a:r>
          </a:p>
          <a:p>
            <a:r>
              <a:rPr lang="de-AT" sz="2000" dirty="0">
                <a:sym typeface="Wingdings" panose="05000000000000000000" pitchFamily="2" charset="2"/>
              </a:rPr>
              <a:t>Viele neue Sensoren/Aktoren</a:t>
            </a:r>
          </a:p>
          <a:p>
            <a:pPr lvl="1"/>
            <a:r>
              <a:rPr lang="de-AT" sz="1800" dirty="0">
                <a:sym typeface="Wingdings" panose="05000000000000000000" pitchFamily="2" charset="2"/>
              </a:rPr>
              <a:t>Radar-Bewegungsmelder</a:t>
            </a:r>
          </a:p>
          <a:p>
            <a:r>
              <a:rPr lang="de-AT" sz="2000" dirty="0">
                <a:sym typeface="Wingdings" panose="05000000000000000000" pitchFamily="2" charset="2"/>
              </a:rPr>
              <a:t>AI-Unterstützung</a:t>
            </a:r>
          </a:p>
          <a:p>
            <a:pPr lvl="1"/>
            <a:r>
              <a:rPr lang="de-AT" sz="1800" dirty="0">
                <a:sym typeface="Wingdings" panose="05000000000000000000" pitchFamily="2" charset="2"/>
              </a:rPr>
              <a:t>Kameras</a:t>
            </a:r>
          </a:p>
          <a:p>
            <a:pPr lvl="1"/>
            <a:r>
              <a:rPr lang="de-AT" sz="1800" dirty="0"/>
              <a:t>Automatisierungen</a:t>
            </a:r>
          </a:p>
          <a:p>
            <a:pPr lvl="1"/>
            <a:r>
              <a:rPr lang="de-AT" sz="1800" dirty="0"/>
              <a:t>…</a:t>
            </a:r>
          </a:p>
          <a:p>
            <a:pPr lvl="1"/>
            <a:endParaRPr lang="de-AT" sz="1800" dirty="0"/>
          </a:p>
        </p:txBody>
      </p:sp>
    </p:spTree>
    <p:extLst>
      <p:ext uri="{BB962C8B-B14F-4D97-AF65-F5344CB8AC3E}">
        <p14:creationId xmlns:p14="http://schemas.microsoft.com/office/powerpoint/2010/main" val="10263772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ED363A-F8DD-B5A1-9297-88BE51357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Voraussetzungen für smartes Home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B3BAD4F-A57F-7FE5-6BF4-9B07FBE609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1052736"/>
            <a:ext cx="8207375" cy="4608165"/>
          </a:xfrm>
        </p:spPr>
        <p:txBody>
          <a:bodyPr/>
          <a:lstStyle/>
          <a:p>
            <a:r>
              <a:rPr lang="de-AT" dirty="0"/>
              <a:t>Erfassung von relevanten Zuständen</a:t>
            </a:r>
          </a:p>
          <a:p>
            <a:pPr lvl="1"/>
            <a:r>
              <a:rPr lang="de-AT" dirty="0"/>
              <a:t>Sensoren und Aktoren verschiedenster Hersteller </a:t>
            </a:r>
          </a:p>
          <a:p>
            <a:r>
              <a:rPr lang="de-AT" dirty="0"/>
              <a:t>Verarbeitung der Daten</a:t>
            </a:r>
          </a:p>
          <a:p>
            <a:pPr lvl="1"/>
            <a:r>
              <a:rPr lang="de-AT" dirty="0"/>
              <a:t>Automatisierungslogik</a:t>
            </a:r>
          </a:p>
          <a:p>
            <a:pPr lvl="2"/>
            <a:r>
              <a:rPr lang="de-AT" dirty="0"/>
              <a:t>Assistenzgestützt in HA</a:t>
            </a:r>
          </a:p>
          <a:p>
            <a:pPr lvl="2"/>
            <a:r>
              <a:rPr lang="de-AT" dirty="0"/>
              <a:t>Textbasiert über YAML in HA</a:t>
            </a:r>
          </a:p>
          <a:p>
            <a:pPr lvl="2"/>
            <a:r>
              <a:rPr lang="de-AT" dirty="0"/>
              <a:t>Per Code implementiert in </a:t>
            </a:r>
            <a:r>
              <a:rPr lang="de-AT" dirty="0" err="1"/>
              <a:t>NodeRed</a:t>
            </a:r>
            <a:endParaRPr lang="de-AT" dirty="0"/>
          </a:p>
          <a:p>
            <a:r>
              <a:rPr lang="de-AT" dirty="0"/>
              <a:t>Auslösen von Aktionen</a:t>
            </a:r>
          </a:p>
          <a:p>
            <a:pPr lvl="1"/>
            <a:r>
              <a:rPr lang="de-AT" dirty="0"/>
              <a:t>Regelung</a:t>
            </a:r>
          </a:p>
          <a:p>
            <a:pPr lvl="1"/>
            <a:r>
              <a:rPr lang="de-AT" dirty="0"/>
              <a:t>Schalten von Aktoren</a:t>
            </a:r>
          </a:p>
          <a:p>
            <a:pPr lvl="1"/>
            <a:r>
              <a:rPr lang="de-AT" dirty="0"/>
              <a:t>Verständigung im Ausnahmefall, …</a:t>
            </a:r>
          </a:p>
        </p:txBody>
      </p:sp>
    </p:spTree>
    <p:extLst>
      <p:ext uri="{BB962C8B-B14F-4D97-AF65-F5344CB8AC3E}">
        <p14:creationId xmlns:p14="http://schemas.microsoft.com/office/powerpoint/2010/main" val="1611553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D9BC85-DAF3-D92F-B9EC-51C027AFF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Aktuelle Situation blieb fast unverändert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5503F7B-DB2D-6CED-689C-10D8470F1C4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1052736"/>
            <a:ext cx="8207375" cy="4608165"/>
          </a:xfrm>
        </p:spPr>
        <p:txBody>
          <a:bodyPr/>
          <a:lstStyle/>
          <a:p>
            <a:r>
              <a:rPr lang="de-AT" sz="2400" dirty="0"/>
              <a:t>Viele unterschiedliche Systeme von vielen Herstellern</a:t>
            </a:r>
          </a:p>
          <a:p>
            <a:pPr lvl="1"/>
            <a:r>
              <a:rPr lang="de-AT" sz="2000" dirty="0"/>
              <a:t>Philips-Hue</a:t>
            </a:r>
          </a:p>
          <a:p>
            <a:pPr lvl="1"/>
            <a:r>
              <a:rPr lang="de-AT" sz="2000" dirty="0" err="1"/>
              <a:t>Homematic</a:t>
            </a:r>
            <a:endParaRPr lang="de-AT" sz="2000" dirty="0"/>
          </a:p>
          <a:p>
            <a:pPr lvl="1"/>
            <a:r>
              <a:rPr lang="de-AT" sz="2000" dirty="0"/>
              <a:t>Alexa,</a:t>
            </a:r>
          </a:p>
          <a:p>
            <a:pPr lvl="1"/>
            <a:r>
              <a:rPr lang="de-AT" sz="2000" dirty="0"/>
              <a:t>…</a:t>
            </a:r>
          </a:p>
          <a:p>
            <a:r>
              <a:rPr lang="de-AT" sz="2400" dirty="0"/>
              <a:t>Wildwuchs an Kommunikationsmedien (drahtgebunden, Funk, Optik, …) und Kommunikationsprotokollen</a:t>
            </a:r>
          </a:p>
          <a:p>
            <a:pPr lvl="1"/>
            <a:r>
              <a:rPr lang="de-AT" sz="2000" dirty="0"/>
              <a:t>BT, ZigBee, Wifi, …</a:t>
            </a:r>
          </a:p>
          <a:p>
            <a:pPr lvl="1"/>
            <a:r>
              <a:rPr lang="de-AT" sz="2000" dirty="0" err="1"/>
              <a:t>Properitäre</a:t>
            </a:r>
            <a:r>
              <a:rPr lang="de-AT" sz="2000" dirty="0"/>
              <a:t> Protokolle</a:t>
            </a:r>
          </a:p>
          <a:p>
            <a:pPr lvl="2"/>
            <a:r>
              <a:rPr lang="de-AT" sz="2000" dirty="0" err="1"/>
              <a:t>Homematic</a:t>
            </a:r>
            <a:endParaRPr lang="de-AT" sz="2000" dirty="0"/>
          </a:p>
          <a:p>
            <a:r>
              <a:rPr lang="de-AT" sz="2400" dirty="0"/>
              <a:t>Viele Cloudanbieter mit jeweils eigener App</a:t>
            </a:r>
          </a:p>
          <a:p>
            <a:pPr lvl="1"/>
            <a:r>
              <a:rPr lang="de-AT" sz="2200" dirty="0"/>
              <a:t>… und wieder wird mit Daten bezahlt</a:t>
            </a:r>
          </a:p>
        </p:txBody>
      </p:sp>
      <p:pic>
        <p:nvPicPr>
          <p:cNvPr id="2050" name="Picture 2" descr="Smart bulbs | Philips Hue AT">
            <a:extLst>
              <a:ext uri="{FF2B5EF4-FFF2-40B4-BE49-F238E27FC236}">
                <a16:creationId xmlns:a16="http://schemas.microsoft.com/office/drawing/2014/main" id="{3CBAC207-33B6-FDFC-2AD2-2E1BB1E28D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4" y="1700237"/>
            <a:ext cx="990997" cy="990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omematic IP Funk Zentrale Access Point kaufen">
            <a:extLst>
              <a:ext uri="{FF2B5EF4-FFF2-40B4-BE49-F238E27FC236}">
                <a16:creationId xmlns:a16="http://schemas.microsoft.com/office/drawing/2014/main" id="{DE6C4EA9-A6CF-F10F-7521-73BDF2BF79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1754948"/>
            <a:ext cx="998559" cy="881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AMAZON Echo Dot 5. Generation mit Uhr, blau">
            <a:extLst>
              <a:ext uri="{FF2B5EF4-FFF2-40B4-BE49-F238E27FC236}">
                <a16:creationId xmlns:a16="http://schemas.microsoft.com/office/drawing/2014/main" id="{84F36BCE-DE74-FDB0-D605-5016D4F1FD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5706" y="1611188"/>
            <a:ext cx="1651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Was ist Zigbee? Erklärung der weltweit populärsten  Smart-Light-Network-Technologie | Homey">
            <a:extLst>
              <a:ext uri="{FF2B5EF4-FFF2-40B4-BE49-F238E27FC236}">
                <a16:creationId xmlns:a16="http://schemas.microsoft.com/office/drawing/2014/main" id="{98505B0E-D98F-6252-402F-6DFC9078A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3561" y="3774231"/>
            <a:ext cx="627483" cy="894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F69998E3-D081-6AE2-7CC5-C6E82DBA4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3777269"/>
            <a:ext cx="792088" cy="792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>
            <a:extLst>
              <a:ext uri="{FF2B5EF4-FFF2-40B4-BE49-F238E27FC236}">
                <a16:creationId xmlns:a16="http://schemas.microsoft.com/office/drawing/2014/main" id="{293C4A48-823B-3301-C104-CCBAC67F8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7332" y="3684329"/>
            <a:ext cx="885028" cy="885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Amazon Web Services – Wikipedia">
            <a:extLst>
              <a:ext uri="{FF2B5EF4-FFF2-40B4-BE49-F238E27FC236}">
                <a16:creationId xmlns:a16="http://schemas.microsoft.com/office/drawing/2014/main" id="{CAD6DFB4-841E-7C94-985F-D1067A0B03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259" y="6161432"/>
            <a:ext cx="711319" cy="426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 descr="logo">
            <a:extLst>
              <a:ext uri="{FF2B5EF4-FFF2-40B4-BE49-F238E27FC236}">
                <a16:creationId xmlns:a16="http://schemas.microsoft.com/office/drawing/2014/main" id="{946AE647-A3B9-22EF-C76C-407DBF0705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279" y="6092725"/>
            <a:ext cx="1021282" cy="523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 descr="Google Nest – Wikipedia">
            <a:extLst>
              <a:ext uri="{FF2B5EF4-FFF2-40B4-BE49-F238E27FC236}">
                <a16:creationId xmlns:a16="http://schemas.microsoft.com/office/drawing/2014/main" id="{8D984224-E41F-C070-549C-F6E560250B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2262" y="6044423"/>
            <a:ext cx="1352745" cy="468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7949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AEE892-9EC3-6AC9-A7F5-F565468C6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210" y="111214"/>
            <a:ext cx="8229600" cy="1143000"/>
          </a:xfrm>
        </p:spPr>
        <p:txBody>
          <a:bodyPr/>
          <a:lstStyle/>
          <a:p>
            <a:r>
              <a:rPr lang="de-AT" dirty="0"/>
              <a:t>Wieso also immer noch  </a:t>
            </a:r>
            <a:r>
              <a:rPr lang="de-AT" dirty="0" err="1"/>
              <a:t>HomeAssistant</a:t>
            </a:r>
            <a:r>
              <a:rPr lang="de-AT" dirty="0"/>
              <a:t>?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BD9D9CB-60CF-AEBE-9965-F81E634387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1052736"/>
            <a:ext cx="8207375" cy="4608165"/>
          </a:xfrm>
        </p:spPr>
        <p:txBody>
          <a:bodyPr/>
          <a:lstStyle/>
          <a:p>
            <a:r>
              <a:rPr lang="de-AT" dirty="0"/>
              <a:t>Integrationsplattform für ALLE </a:t>
            </a:r>
            <a:r>
              <a:rPr lang="de-AT" dirty="0" err="1"/>
              <a:t>Iot</a:t>
            </a:r>
            <a:r>
              <a:rPr lang="de-AT" dirty="0"/>
              <a:t>-Systeme/Devices</a:t>
            </a:r>
          </a:p>
          <a:p>
            <a:pPr lvl="1"/>
            <a:r>
              <a:rPr lang="de-AT" dirty="0"/>
              <a:t>Muss Matter erst erreichen</a:t>
            </a:r>
          </a:p>
          <a:p>
            <a:r>
              <a:rPr lang="de-AT" dirty="0" err="1"/>
              <a:t>OpenSource</a:t>
            </a:r>
            <a:endParaRPr lang="de-AT" dirty="0"/>
          </a:p>
          <a:p>
            <a:r>
              <a:rPr lang="de-AT" dirty="0" err="1"/>
              <a:t>LocalControl</a:t>
            </a:r>
            <a:r>
              <a:rPr lang="de-AT" dirty="0"/>
              <a:t> möglich </a:t>
            </a:r>
            <a:r>
              <a:rPr lang="de-AT" dirty="0">
                <a:sym typeface="Wingdings" panose="05000000000000000000" pitchFamily="2" charset="2"/>
              </a:rPr>
              <a:t> Cloud minimieren</a:t>
            </a:r>
            <a:endParaRPr lang="de-AT" dirty="0"/>
          </a:p>
          <a:p>
            <a:r>
              <a:rPr lang="de-AT" dirty="0"/>
              <a:t>Erweiterbarkeit über </a:t>
            </a:r>
            <a:r>
              <a:rPr lang="de-AT" dirty="0" err="1"/>
              <a:t>AddOns</a:t>
            </a:r>
            <a:r>
              <a:rPr lang="de-AT" dirty="0"/>
              <a:t>/Integrationen</a:t>
            </a:r>
          </a:p>
          <a:p>
            <a:pPr lvl="1"/>
            <a:r>
              <a:rPr lang="de-AT" dirty="0"/>
              <a:t>Offiziell und aus </a:t>
            </a:r>
            <a:r>
              <a:rPr lang="de-AT" dirty="0" err="1"/>
              <a:t>CustomRepositories</a:t>
            </a:r>
            <a:endParaRPr lang="de-AT" dirty="0"/>
          </a:p>
          <a:p>
            <a:r>
              <a:rPr lang="de-AT" dirty="0"/>
              <a:t>Starke Community (Open Source, </a:t>
            </a:r>
            <a:r>
              <a:rPr lang="de-AT" dirty="0" err="1"/>
              <a:t>free</a:t>
            </a:r>
            <a:r>
              <a:rPr lang="de-AT" dirty="0"/>
              <a:t>)</a:t>
            </a:r>
          </a:p>
          <a:p>
            <a:r>
              <a:rPr lang="de-AT" dirty="0"/>
              <a:t>Freiheiten, Flexibilität und Anpassbarkeit</a:t>
            </a:r>
          </a:p>
          <a:p>
            <a:r>
              <a:rPr lang="de-AT" dirty="0"/>
              <a:t>Einfache und mächtige Automatisierungsmöglichkeit</a:t>
            </a:r>
          </a:p>
          <a:p>
            <a:r>
              <a:rPr lang="de-AT" dirty="0"/>
              <a:t>Security und Privacy</a:t>
            </a:r>
          </a:p>
          <a:p>
            <a:r>
              <a:rPr lang="de-AT" dirty="0"/>
              <a:t>Gut gepflegte Doku (</a:t>
            </a:r>
            <a:r>
              <a:rPr lang="de-AT" dirty="0">
                <a:hlinkClick r:id="rId2"/>
              </a:rPr>
              <a:t>https://www.home-assistant.io/</a:t>
            </a:r>
            <a:r>
              <a:rPr lang="de-AT" dirty="0"/>
              <a:t> )</a:t>
            </a:r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511468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3DF957-0355-256C-78D3-998AA69EF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Und wieso auch nicht!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01ECE23-EE70-6B31-CC77-D01124A7E8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3316267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24C480-2C69-C43E-2261-B39B95FE1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HA – Installationsmethoden (SW)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6A99A70-CAA8-4A2E-6E4C-5B11F96BDE2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1124744"/>
            <a:ext cx="8207375" cy="4608165"/>
          </a:xfrm>
        </p:spPr>
        <p:txBody>
          <a:bodyPr/>
          <a:lstStyle/>
          <a:p>
            <a:r>
              <a:rPr lang="de-AT" dirty="0">
                <a:hlinkClick r:id="rId2"/>
              </a:rPr>
              <a:t>https://www.home-assistant.io/installation/</a:t>
            </a:r>
            <a:r>
              <a:rPr lang="de-AT" dirty="0"/>
              <a:t> </a:t>
            </a:r>
          </a:p>
          <a:p>
            <a:endParaRPr lang="de-AT" dirty="0"/>
          </a:p>
          <a:p>
            <a:r>
              <a:rPr lang="de-AT" dirty="0"/>
              <a:t>Home </a:t>
            </a:r>
            <a:r>
              <a:rPr lang="de-AT" dirty="0" err="1"/>
              <a:t>Assistant</a:t>
            </a:r>
            <a:r>
              <a:rPr lang="de-AT" dirty="0"/>
              <a:t> Operating System</a:t>
            </a:r>
          </a:p>
          <a:p>
            <a:pPr lvl="1"/>
            <a:r>
              <a:rPr lang="de-AT" dirty="0"/>
              <a:t>HA übernimmt Kontrolle über Maschine</a:t>
            </a:r>
          </a:p>
          <a:p>
            <a:pPr lvl="1"/>
            <a:r>
              <a:rPr lang="de-AT" dirty="0"/>
              <a:t>Supervisor kümmert sich um Updates und </a:t>
            </a:r>
            <a:r>
              <a:rPr lang="de-AT" dirty="0" err="1"/>
              <a:t>AddOns</a:t>
            </a:r>
            <a:endParaRPr lang="de-AT" dirty="0"/>
          </a:p>
          <a:p>
            <a:r>
              <a:rPr lang="de-AT" dirty="0"/>
              <a:t>Home </a:t>
            </a:r>
            <a:r>
              <a:rPr lang="de-AT" dirty="0" err="1"/>
              <a:t>Assistant</a:t>
            </a:r>
            <a:r>
              <a:rPr lang="de-AT" dirty="0"/>
              <a:t> Container</a:t>
            </a:r>
          </a:p>
          <a:p>
            <a:pPr lvl="1"/>
            <a:r>
              <a:rPr lang="de-AT" dirty="0"/>
              <a:t>HA Core läuft unter Docker</a:t>
            </a:r>
          </a:p>
          <a:p>
            <a:pPr lvl="1"/>
            <a:r>
              <a:rPr lang="de-AT" dirty="0"/>
              <a:t>Keine </a:t>
            </a:r>
            <a:r>
              <a:rPr lang="de-AT" dirty="0" err="1"/>
              <a:t>AddOns</a:t>
            </a:r>
            <a:endParaRPr lang="de-AT" dirty="0"/>
          </a:p>
          <a:p>
            <a:r>
              <a:rPr lang="de-AT" dirty="0"/>
              <a:t>Manuelle Installation von HA</a:t>
            </a:r>
          </a:p>
          <a:p>
            <a:pPr lvl="1"/>
            <a:r>
              <a:rPr lang="de-AT" dirty="0"/>
              <a:t>Direkt unter Debian</a:t>
            </a:r>
          </a:p>
          <a:p>
            <a:pPr lvl="1"/>
            <a:r>
              <a:rPr lang="de-AT" dirty="0"/>
              <a:t>Unter Python VE</a:t>
            </a:r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764087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5F507E-8658-EC6F-217F-AD2460E13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Hardware-Plattformen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947A7E6-E511-E68F-3A27-F3B2F1B51C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909067"/>
            <a:ext cx="8207375" cy="4608165"/>
          </a:xfrm>
        </p:spPr>
        <p:txBody>
          <a:bodyPr/>
          <a:lstStyle/>
          <a:p>
            <a:r>
              <a:rPr lang="de-AT" sz="2400" dirty="0"/>
              <a:t>Raspberry Pi 4 mit idealerweise 8GB und SSD</a:t>
            </a:r>
          </a:p>
          <a:p>
            <a:pPr lvl="1"/>
            <a:r>
              <a:rPr lang="de-AT" sz="2000" dirty="0"/>
              <a:t>Bedingt leistungsfähig</a:t>
            </a:r>
          </a:p>
          <a:p>
            <a:pPr lvl="1"/>
            <a:r>
              <a:rPr lang="de-AT" sz="2000" dirty="0"/>
              <a:t>Geringer Energiebedarf (ca. 4W)</a:t>
            </a:r>
          </a:p>
          <a:p>
            <a:r>
              <a:rPr lang="de-AT" sz="2200" dirty="0"/>
              <a:t>Raspberry Pi 5 braucht zu viel Strom</a:t>
            </a:r>
          </a:p>
          <a:p>
            <a:r>
              <a:rPr lang="de-AT" sz="2200" dirty="0" err="1"/>
              <a:t>Odroid</a:t>
            </a:r>
            <a:r>
              <a:rPr lang="de-AT" sz="2200" dirty="0"/>
              <a:t> N2+</a:t>
            </a:r>
          </a:p>
          <a:p>
            <a:pPr lvl="1"/>
            <a:endParaRPr lang="de-AT" sz="2000" dirty="0"/>
          </a:p>
          <a:p>
            <a:r>
              <a:rPr lang="de-AT" sz="2400" dirty="0"/>
              <a:t>Altes Notebook/</a:t>
            </a:r>
            <a:r>
              <a:rPr lang="de-AT" sz="2400" dirty="0" err="1"/>
              <a:t>ThinClient</a:t>
            </a:r>
            <a:r>
              <a:rPr lang="de-AT" sz="2400" dirty="0"/>
              <a:t> </a:t>
            </a:r>
            <a:r>
              <a:rPr lang="de-AT" sz="2000" dirty="0"/>
              <a:t>(Dell </a:t>
            </a:r>
            <a:r>
              <a:rPr lang="de-AT" sz="2000" dirty="0" err="1"/>
              <a:t>Wyse</a:t>
            </a:r>
            <a:r>
              <a:rPr lang="de-AT" sz="2000" dirty="0"/>
              <a:t> 5070, HP T630)</a:t>
            </a:r>
            <a:endParaRPr lang="de-AT" sz="2400" dirty="0"/>
          </a:p>
          <a:p>
            <a:pPr lvl="1"/>
            <a:r>
              <a:rPr lang="de-AT" sz="2000" dirty="0"/>
              <a:t>Sehr leistungsfähig</a:t>
            </a:r>
          </a:p>
          <a:p>
            <a:pPr lvl="1"/>
            <a:r>
              <a:rPr lang="de-AT" sz="2000" dirty="0"/>
              <a:t>Ca. 20W Leistung </a:t>
            </a:r>
            <a:r>
              <a:rPr lang="de-AT" sz="2000" dirty="0">
                <a:sym typeface="Wingdings" panose="05000000000000000000" pitchFamily="2" charset="2"/>
              </a:rPr>
              <a:t> ca. 50€ mehr Stromkosten/Jahr</a:t>
            </a:r>
          </a:p>
          <a:p>
            <a:pPr lvl="1"/>
            <a:endParaRPr lang="de-AT" sz="2000" dirty="0"/>
          </a:p>
          <a:p>
            <a:r>
              <a:rPr lang="de-AT" sz="2400" dirty="0" err="1"/>
              <a:t>Barebone</a:t>
            </a:r>
            <a:r>
              <a:rPr lang="de-AT" sz="2400" dirty="0"/>
              <a:t>-PC/NUC	</a:t>
            </a:r>
          </a:p>
          <a:p>
            <a:pPr lvl="1"/>
            <a:r>
              <a:rPr lang="de-AT" sz="2200" dirty="0"/>
              <a:t>„</a:t>
            </a:r>
            <a:r>
              <a:rPr lang="de-AT" sz="2200" dirty="0">
                <a:hlinkClick r:id="rId3"/>
              </a:rPr>
              <a:t>Seminar-Server</a:t>
            </a:r>
            <a:r>
              <a:rPr lang="de-AT" sz="2200" dirty="0"/>
              <a:t>“</a:t>
            </a:r>
          </a:p>
          <a:p>
            <a:pPr lvl="1"/>
            <a:r>
              <a:rPr lang="de-AT" sz="2200" dirty="0"/>
              <a:t>Neue Alder Lake N100/150 Mini-PC</a:t>
            </a:r>
          </a:p>
          <a:p>
            <a:pPr lvl="1"/>
            <a:r>
              <a:rPr lang="de-AT" sz="2400" dirty="0"/>
              <a:t>Teurer, aber geringere Stromkosten/Jahr (25€/Jahr)</a:t>
            </a:r>
            <a:endParaRPr lang="de-AT" sz="2200" dirty="0"/>
          </a:p>
        </p:txBody>
      </p:sp>
    </p:spTree>
    <p:extLst>
      <p:ext uri="{BB962C8B-B14F-4D97-AF65-F5344CB8AC3E}">
        <p14:creationId xmlns:p14="http://schemas.microsoft.com/office/powerpoint/2010/main" val="3585484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BE2295-BB1E-1445-24F3-7E1A6AFD1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Remote Access ist notwendig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F68FA33-061A-6429-BD95-B734602D18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1125091"/>
            <a:ext cx="8207375" cy="4608165"/>
          </a:xfrm>
        </p:spPr>
        <p:txBody>
          <a:bodyPr/>
          <a:lstStyle/>
          <a:p>
            <a:r>
              <a:rPr lang="de-AT" dirty="0"/>
              <a:t>Sicherheit </a:t>
            </a:r>
            <a:r>
              <a:rPr lang="de-AT" dirty="0">
                <a:sym typeface="Wingdings" panose="05000000000000000000" pitchFamily="2" charset="2"/>
              </a:rPr>
              <a:t> Bequemlichkeit</a:t>
            </a:r>
          </a:p>
          <a:p>
            <a:r>
              <a:rPr lang="de-AT" dirty="0">
                <a:sym typeface="Wingdings" panose="05000000000000000000" pitchFamily="2" charset="2"/>
              </a:rPr>
              <a:t>VPN z.B. mittels </a:t>
            </a:r>
            <a:r>
              <a:rPr lang="de-AT" dirty="0" err="1">
                <a:sym typeface="Wingdings" panose="05000000000000000000" pitchFamily="2" charset="2"/>
              </a:rPr>
              <a:t>WireGuard</a:t>
            </a:r>
            <a:endParaRPr lang="de-AT" dirty="0">
              <a:sym typeface="Wingdings" panose="05000000000000000000" pitchFamily="2" charset="2"/>
            </a:endParaRPr>
          </a:p>
          <a:p>
            <a:pPr lvl="1"/>
            <a:r>
              <a:rPr lang="de-AT" dirty="0">
                <a:sym typeface="Wingdings" panose="05000000000000000000" pitchFamily="2" charset="2"/>
              </a:rPr>
              <a:t>Nur berechtigte Geräte haben Zugriff</a:t>
            </a:r>
          </a:p>
          <a:p>
            <a:r>
              <a:rPr lang="de-AT" dirty="0">
                <a:sym typeface="Wingdings" panose="05000000000000000000" pitchFamily="2" charset="2"/>
              </a:rPr>
              <a:t>Zugriff über </a:t>
            </a:r>
            <a:r>
              <a:rPr lang="de-AT" dirty="0" err="1">
                <a:sym typeface="Wingdings" panose="05000000000000000000" pitchFamily="2" charset="2"/>
              </a:rPr>
              <a:t>DynDns</a:t>
            </a:r>
            <a:endParaRPr lang="de-AT" dirty="0">
              <a:sym typeface="Wingdings" panose="05000000000000000000" pitchFamily="2" charset="2"/>
            </a:endParaRPr>
          </a:p>
          <a:p>
            <a:pPr lvl="1"/>
            <a:r>
              <a:rPr lang="de-AT" dirty="0">
                <a:sym typeface="Wingdings" panose="05000000000000000000" pitchFamily="2" charset="2"/>
              </a:rPr>
              <a:t>Erfordert offene Ports im Router</a:t>
            </a:r>
          </a:p>
          <a:p>
            <a:pPr lvl="1"/>
            <a:r>
              <a:rPr lang="de-AT" dirty="0" err="1">
                <a:sym typeface="Wingdings" panose="05000000000000000000" pitchFamily="2" charset="2"/>
              </a:rPr>
              <a:t>DuckDns</a:t>
            </a:r>
            <a:r>
              <a:rPr lang="de-AT" dirty="0">
                <a:sym typeface="Wingdings" panose="05000000000000000000" pitchFamily="2" charset="2"/>
              </a:rPr>
              <a:t>, DynV6</a:t>
            </a:r>
          </a:p>
          <a:p>
            <a:pPr lvl="1"/>
            <a:r>
              <a:rPr lang="de-AT" dirty="0" err="1">
                <a:sym typeface="Wingdings" panose="05000000000000000000" pitchFamily="2" charset="2"/>
              </a:rPr>
              <a:t>Nginx</a:t>
            </a:r>
            <a:r>
              <a:rPr lang="de-AT" dirty="0">
                <a:sym typeface="Wingdings" panose="05000000000000000000" pitchFamily="2" charset="2"/>
              </a:rPr>
              <a:t>-Proxymanager</a:t>
            </a:r>
          </a:p>
          <a:p>
            <a:r>
              <a:rPr lang="de-AT" dirty="0"/>
              <a:t>Cloudservice</a:t>
            </a:r>
          </a:p>
          <a:p>
            <a:pPr lvl="1"/>
            <a:r>
              <a:rPr lang="de-AT" dirty="0"/>
              <a:t>Nabu Casa Cloud</a:t>
            </a:r>
          </a:p>
          <a:p>
            <a:pPr lvl="1"/>
            <a:r>
              <a:rPr lang="de-AT" dirty="0"/>
              <a:t>Cloudflare</a:t>
            </a:r>
          </a:p>
        </p:txBody>
      </p:sp>
    </p:spTree>
    <p:extLst>
      <p:ext uri="{BB962C8B-B14F-4D97-AF65-F5344CB8AC3E}">
        <p14:creationId xmlns:p14="http://schemas.microsoft.com/office/powerpoint/2010/main" val="35280618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752265-C7EB-182A-1E00-D1C301F0D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Was kann ich mit HA machen?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3C5FC38-BE3F-F64B-E2D1-C879CAD987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1124744"/>
            <a:ext cx="8207375" cy="4608165"/>
          </a:xfrm>
        </p:spPr>
        <p:txBody>
          <a:bodyPr/>
          <a:lstStyle/>
          <a:p>
            <a:r>
              <a:rPr lang="de-AT" dirty="0"/>
              <a:t>Visualisierung</a:t>
            </a:r>
          </a:p>
          <a:p>
            <a:pPr lvl="1"/>
            <a:r>
              <a:rPr lang="de-AT" dirty="0"/>
              <a:t>Einfache Dashboards</a:t>
            </a:r>
          </a:p>
          <a:p>
            <a:pPr lvl="2"/>
            <a:r>
              <a:rPr lang="de-AT" dirty="0"/>
              <a:t>Sehr viele </a:t>
            </a:r>
            <a:r>
              <a:rPr lang="de-AT" dirty="0" err="1"/>
              <a:t>CustomComponents</a:t>
            </a:r>
            <a:endParaRPr lang="de-AT" dirty="0"/>
          </a:p>
          <a:p>
            <a:r>
              <a:rPr lang="de-AT" dirty="0"/>
              <a:t>Automatisierungen</a:t>
            </a:r>
          </a:p>
          <a:p>
            <a:pPr lvl="1"/>
            <a:r>
              <a:rPr lang="de-AT" dirty="0"/>
              <a:t>Einfach über Assistenten</a:t>
            </a:r>
          </a:p>
          <a:p>
            <a:pPr lvl="1"/>
            <a:r>
              <a:rPr lang="de-AT" dirty="0"/>
              <a:t>Mächtiger mittels </a:t>
            </a:r>
            <a:r>
              <a:rPr lang="de-AT" dirty="0" err="1"/>
              <a:t>Yaml</a:t>
            </a:r>
            <a:r>
              <a:rPr lang="de-AT" dirty="0"/>
              <a:t> und KI</a:t>
            </a:r>
          </a:p>
          <a:p>
            <a:r>
              <a:rPr lang="de-AT" dirty="0" err="1"/>
              <a:t>Notification</a:t>
            </a:r>
            <a:endParaRPr lang="de-AT" dirty="0"/>
          </a:p>
          <a:p>
            <a:pPr lvl="1"/>
            <a:r>
              <a:rPr lang="de-AT" dirty="0"/>
              <a:t>Verschiedene Kanäle (App, Mail, …)</a:t>
            </a:r>
          </a:p>
          <a:p>
            <a:endParaRPr lang="de-AT" dirty="0"/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677112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C2DBDA-3FA4-877F-B036-5D1223A60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Visualisierung 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A761885-F213-1155-84D3-154AD3BB46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4" y="1124744"/>
            <a:ext cx="4247702" cy="4608165"/>
          </a:xfrm>
        </p:spPr>
        <p:txBody>
          <a:bodyPr/>
          <a:lstStyle/>
          <a:p>
            <a:r>
              <a:rPr lang="de-AT" dirty="0"/>
              <a:t>Einfach, aber leistungsfähig</a:t>
            </a:r>
          </a:p>
          <a:p>
            <a:r>
              <a:rPr lang="de-AT" dirty="0"/>
              <a:t>Responsive web design</a:t>
            </a:r>
          </a:p>
          <a:p>
            <a:r>
              <a:rPr lang="de-AT" dirty="0"/>
              <a:t>Struktur</a:t>
            </a:r>
          </a:p>
          <a:p>
            <a:pPr lvl="1"/>
            <a:r>
              <a:rPr lang="de-AT" dirty="0"/>
              <a:t>Dashboards</a:t>
            </a:r>
          </a:p>
          <a:p>
            <a:pPr lvl="1"/>
            <a:r>
              <a:rPr lang="de-AT" dirty="0"/>
              <a:t>Views</a:t>
            </a:r>
          </a:p>
          <a:p>
            <a:pPr lvl="1"/>
            <a:r>
              <a:rPr lang="de-AT" dirty="0" err="1">
                <a:solidFill>
                  <a:srgbClr val="FF0000"/>
                </a:solidFill>
              </a:rPr>
              <a:t>Regions</a:t>
            </a:r>
            <a:endParaRPr lang="de-AT" dirty="0">
              <a:solidFill>
                <a:srgbClr val="FF0000"/>
              </a:solidFill>
            </a:endParaRPr>
          </a:p>
          <a:p>
            <a:pPr lvl="1"/>
            <a:r>
              <a:rPr lang="de-AT" dirty="0"/>
              <a:t>Cards</a:t>
            </a:r>
          </a:p>
          <a:p>
            <a:pPr lvl="1"/>
            <a:r>
              <a:rPr lang="de-AT" dirty="0" err="1"/>
              <a:t>Entities</a:t>
            </a:r>
            <a:endParaRPr lang="de-AT" dirty="0"/>
          </a:p>
          <a:p>
            <a:endParaRPr lang="de-AT" dirty="0"/>
          </a:p>
          <a:p>
            <a:endParaRPr lang="de-AT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2A49DB7E-8802-EF5C-5899-BBDA78C35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048" y="925448"/>
            <a:ext cx="3873312" cy="5150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6146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908172-4AC2-8763-75B5-DB12E5A57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Companion-App ist sehr zu empfehlen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FCFB301-1FEE-298D-BDDA-4468DF4EEB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5759871" cy="4608165"/>
          </a:xfrm>
        </p:spPr>
        <p:txBody>
          <a:bodyPr/>
          <a:lstStyle/>
          <a:p>
            <a:r>
              <a:rPr lang="de-AT" dirty="0"/>
              <a:t>Optimale Ergänzung</a:t>
            </a:r>
          </a:p>
          <a:p>
            <a:pPr lvl="1"/>
            <a:r>
              <a:rPr lang="de-AT" dirty="0" err="1"/>
              <a:t>Notifications</a:t>
            </a:r>
            <a:endParaRPr lang="de-AT" dirty="0"/>
          </a:p>
          <a:p>
            <a:pPr lvl="1"/>
            <a:r>
              <a:rPr lang="de-AT" dirty="0"/>
              <a:t>Remote Control</a:t>
            </a:r>
          </a:p>
          <a:p>
            <a:pPr lvl="1"/>
            <a:r>
              <a:rPr lang="de-AT" dirty="0"/>
              <a:t>Standort-Tracking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02D3007-92FF-2675-0412-4AFB5D263A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104" y="981075"/>
            <a:ext cx="2551725" cy="5668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8083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8A883A-FB9F-9053-00A3-A4D302412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Notification</a:t>
            </a:r>
            <a:r>
              <a:rPr lang="de-AT" dirty="0"/>
              <a:t> per HA-App oder Handy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6E55AF-A8B8-3DA5-388A-AB49793DF2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5327823" cy="4608165"/>
          </a:xfrm>
        </p:spPr>
        <p:txBody>
          <a:bodyPr/>
          <a:lstStyle/>
          <a:p>
            <a:r>
              <a:rPr lang="de-AT" dirty="0" err="1"/>
              <a:t>Watchdog</a:t>
            </a:r>
            <a:r>
              <a:rPr lang="de-AT" dirty="0"/>
              <a:t> wurde nicht getriggert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AFFD7C3C-05E2-C2A1-2CDC-83E1951B7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4168" y="1628800"/>
            <a:ext cx="2916188" cy="3758485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C10E8999-37AE-6F95-5021-586F9F52BB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2132856"/>
            <a:ext cx="4819650" cy="18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251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947B47-94B8-54C4-9463-199B32ED7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Tablet als günstige Zentrale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B5BAEBC-DC62-564E-4CAA-C5FB7563D0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980728"/>
            <a:ext cx="8207375" cy="4608165"/>
          </a:xfrm>
        </p:spPr>
        <p:txBody>
          <a:bodyPr/>
          <a:lstStyle/>
          <a:p>
            <a:r>
              <a:rPr lang="de-AT" dirty="0">
                <a:hlinkClick r:id="rId2"/>
              </a:rPr>
              <a:t>https://hasshmo.dynv6.net/dashboard-tablet/0</a:t>
            </a:r>
            <a:r>
              <a:rPr lang="de-AT" dirty="0"/>
              <a:t> 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473C7FC1-30FA-697F-AFBD-F13B59D35B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1772816"/>
            <a:ext cx="7092280" cy="4317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0854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BB0F1E-4C73-A220-DD61-6DC9138A1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Apps erweitern die Funktionalität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241F9B9-F86B-73E5-DC2E-943CFF2B7B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Pro App zumindest ein Docker-Container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1D0F92A-0A2D-1926-00CB-75B317F7CA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11516"/>
            <a:ext cx="9144000" cy="2722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9248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4E5217-0120-A5F8-2765-4BCF23164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AT" sz="2800" dirty="0"/>
              <a:t>Integrationen integrieren Geräte/Plattformen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3056D91-0DA7-ADBC-DE73-B821C6D4C1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528" y="980728"/>
            <a:ext cx="8207375" cy="4608165"/>
          </a:xfrm>
        </p:spPr>
        <p:txBody>
          <a:bodyPr/>
          <a:lstStyle/>
          <a:p>
            <a:r>
              <a:rPr lang="de-AT" dirty="0"/>
              <a:t>Stärke von HA </a:t>
            </a:r>
            <a:r>
              <a:rPr lang="de-AT" dirty="0">
                <a:sym typeface="Wingdings" panose="05000000000000000000" pitchFamily="2" charset="2"/>
              </a:rPr>
              <a:t> es ist praktisch alles integrierbar</a:t>
            </a:r>
          </a:p>
          <a:p>
            <a:pPr lvl="1"/>
            <a:r>
              <a:rPr lang="de-AT" dirty="0">
                <a:sym typeface="Wingdings" panose="05000000000000000000" pitchFamily="2" charset="2"/>
              </a:rPr>
              <a:t>Über </a:t>
            </a:r>
            <a:r>
              <a:rPr lang="de-AT" strike="sngStrike" dirty="0">
                <a:sym typeface="Wingdings" panose="05000000000000000000" pitchFamily="2" charset="2"/>
              </a:rPr>
              <a:t>2500</a:t>
            </a:r>
            <a:r>
              <a:rPr lang="de-AT" dirty="0">
                <a:sym typeface="Wingdings" panose="05000000000000000000" pitchFamily="2" charset="2"/>
              </a:rPr>
              <a:t> 3000 Integrationen</a:t>
            </a:r>
          </a:p>
          <a:p>
            <a:pPr lvl="1"/>
            <a:r>
              <a:rPr lang="de-AT" dirty="0">
                <a:sym typeface="Wingdings" panose="05000000000000000000" pitchFamily="2" charset="2"/>
              </a:rPr>
              <a:t>Zur Not über MQTT</a:t>
            </a:r>
          </a:p>
          <a:p>
            <a:pPr lvl="1"/>
            <a:r>
              <a:rPr lang="de-AT" dirty="0">
                <a:hlinkClick r:id="rId2"/>
              </a:rPr>
              <a:t>https://www.home-assistant.io/integrations</a:t>
            </a:r>
            <a:r>
              <a:rPr lang="de-AT" dirty="0">
                <a:sym typeface="Wingdings" panose="05000000000000000000" pitchFamily="2" charset="2"/>
              </a:rPr>
              <a:t> </a:t>
            </a:r>
            <a:endParaRPr lang="de-AT" dirty="0"/>
          </a:p>
        </p:txBody>
      </p:sp>
      <p:pic>
        <p:nvPicPr>
          <p:cNvPr id="6" name="Grafik 5" descr="Ein Bild, das Text, Screenshot, Computersymbol, Software enthält.&#10;&#10;KI-generierte Inhalte können fehlerhaft sein.">
            <a:extLst>
              <a:ext uri="{FF2B5EF4-FFF2-40B4-BE49-F238E27FC236}">
                <a16:creationId xmlns:a16="http://schemas.microsoft.com/office/drawing/2014/main" id="{E43E3E56-7FFD-7102-2741-DBF5E3203B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656" y="3049878"/>
            <a:ext cx="6588224" cy="3394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4774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E4254B-C756-3855-801E-9F6D3E010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Eigene positive Erfahrungen mit …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853E16B-CD41-E65B-5B1C-06A9AEAE2C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1052736"/>
            <a:ext cx="8207375" cy="4608165"/>
          </a:xfrm>
        </p:spPr>
        <p:txBody>
          <a:bodyPr/>
          <a:lstStyle/>
          <a:p>
            <a:r>
              <a:rPr lang="de-AT" sz="2400" dirty="0"/>
              <a:t>Integration Homematic, Shelly, </a:t>
            </a:r>
            <a:r>
              <a:rPr lang="de-AT" sz="2400" dirty="0" err="1"/>
              <a:t>EspHome</a:t>
            </a:r>
            <a:r>
              <a:rPr lang="de-AT" sz="2400" dirty="0"/>
              <a:t>, Zigbee2Mqtt</a:t>
            </a:r>
          </a:p>
          <a:p>
            <a:r>
              <a:rPr lang="de-AT" sz="2400" dirty="0"/>
              <a:t>Anwendungen</a:t>
            </a:r>
          </a:p>
          <a:p>
            <a:pPr lvl="1"/>
            <a:r>
              <a:rPr lang="de-AT" sz="2000" dirty="0"/>
              <a:t>Garagentor überwachen und bedienen</a:t>
            </a:r>
          </a:p>
          <a:p>
            <a:pPr lvl="2"/>
            <a:r>
              <a:rPr lang="de-AT" sz="2000" dirty="0"/>
              <a:t>ZigBee, Alexa, Automatisierung</a:t>
            </a:r>
          </a:p>
          <a:p>
            <a:pPr lvl="1"/>
            <a:r>
              <a:rPr lang="de-AT" sz="2000" dirty="0"/>
              <a:t>Kameras mit </a:t>
            </a:r>
            <a:r>
              <a:rPr lang="de-AT" sz="2000" dirty="0" err="1"/>
              <a:t>Coralstick</a:t>
            </a:r>
            <a:r>
              <a:rPr lang="de-AT" sz="2000" dirty="0"/>
              <a:t> und </a:t>
            </a:r>
            <a:r>
              <a:rPr lang="de-AT" sz="2000" dirty="0" err="1"/>
              <a:t>Frigate</a:t>
            </a:r>
            <a:endParaRPr lang="de-AT" sz="2000" dirty="0"/>
          </a:p>
          <a:p>
            <a:pPr lvl="2"/>
            <a:r>
              <a:rPr lang="de-AT" sz="2000" dirty="0"/>
              <a:t>Personenerkennung und </a:t>
            </a:r>
            <a:r>
              <a:rPr lang="de-AT" sz="2000" dirty="0" err="1"/>
              <a:t>Notification</a:t>
            </a:r>
            <a:endParaRPr lang="de-AT" sz="2000" dirty="0"/>
          </a:p>
          <a:p>
            <a:pPr lvl="1"/>
            <a:r>
              <a:rPr lang="de-AT" sz="2000" dirty="0"/>
              <a:t>Tablet an der Eingangstür und am Schreibtisch</a:t>
            </a:r>
          </a:p>
          <a:p>
            <a:pPr lvl="1"/>
            <a:r>
              <a:rPr lang="de-AT" sz="2000" dirty="0"/>
              <a:t>Grüner Daumen mit verschiedenen Sensoren</a:t>
            </a:r>
          </a:p>
          <a:p>
            <a:pPr lvl="2"/>
            <a:r>
              <a:rPr lang="de-AT" sz="2000" dirty="0" err="1"/>
              <a:t>Zigbee</a:t>
            </a:r>
            <a:r>
              <a:rPr lang="de-AT" sz="2000" dirty="0"/>
              <a:t>, Bluetooth, 433MHz</a:t>
            </a:r>
          </a:p>
          <a:p>
            <a:pPr lvl="2"/>
            <a:r>
              <a:rPr lang="de-AT" sz="2000" dirty="0"/>
              <a:t>Teilautomatische Bewässerung</a:t>
            </a:r>
          </a:p>
          <a:p>
            <a:pPr lvl="1"/>
            <a:r>
              <a:rPr lang="de-AT" sz="2000" dirty="0"/>
              <a:t>Energiemanagement Wärmepumpe</a:t>
            </a:r>
          </a:p>
          <a:p>
            <a:pPr lvl="2"/>
            <a:r>
              <a:rPr lang="de-AT" sz="2000" dirty="0"/>
              <a:t>Modbus, API, …</a:t>
            </a:r>
          </a:p>
          <a:p>
            <a:pPr lvl="1"/>
            <a:r>
              <a:rPr lang="de-AT" sz="2200" dirty="0"/>
              <a:t>Smartlock mit </a:t>
            </a:r>
            <a:r>
              <a:rPr lang="de-AT" sz="2200" dirty="0" err="1"/>
              <a:t>Switchbot</a:t>
            </a:r>
            <a:r>
              <a:rPr lang="de-AT" sz="2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681790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86523F-55A2-2021-E25D-C842EEECC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Kernthemen im Seminar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01C91BC-2850-2311-D3F4-B128C9C106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AI in verschiedenen Bereichen</a:t>
            </a:r>
          </a:p>
          <a:p>
            <a:pPr lvl="1"/>
            <a:r>
              <a:rPr lang="de-AT" dirty="0"/>
              <a:t>Assist mit Sprachsteuerung</a:t>
            </a:r>
          </a:p>
          <a:p>
            <a:pPr lvl="1"/>
            <a:r>
              <a:rPr lang="de-AT" dirty="0"/>
              <a:t>Erstellung von </a:t>
            </a:r>
            <a:r>
              <a:rPr lang="de-AT" dirty="0" err="1"/>
              <a:t>Automations</a:t>
            </a:r>
            <a:r>
              <a:rPr lang="de-AT" dirty="0"/>
              <a:t> und UI</a:t>
            </a:r>
          </a:p>
          <a:p>
            <a:pPr lvl="1"/>
            <a:r>
              <a:rPr lang="de-AT" dirty="0"/>
              <a:t>Gesichtserkennung bei Kamera</a:t>
            </a:r>
          </a:p>
          <a:p>
            <a:pPr lvl="1"/>
            <a:r>
              <a:rPr lang="de-AT" dirty="0"/>
              <a:t>Workflowsystem n8n</a:t>
            </a:r>
          </a:p>
          <a:p>
            <a:r>
              <a:rPr lang="de-AT" dirty="0"/>
              <a:t>Alarmanlage</a:t>
            </a:r>
          </a:p>
          <a:p>
            <a:pPr lvl="1"/>
            <a:r>
              <a:rPr lang="de-AT" dirty="0"/>
              <a:t>Eigenes Device auf Basis </a:t>
            </a:r>
            <a:r>
              <a:rPr lang="de-AT" dirty="0" err="1"/>
              <a:t>EspHome</a:t>
            </a:r>
            <a:endParaRPr lang="de-AT" dirty="0"/>
          </a:p>
          <a:p>
            <a:pPr lvl="1"/>
            <a:r>
              <a:rPr lang="de-AT" dirty="0" err="1"/>
              <a:t>Zigbee</a:t>
            </a:r>
            <a:r>
              <a:rPr lang="de-AT" dirty="0"/>
              <a:t>- und </a:t>
            </a:r>
            <a:r>
              <a:rPr lang="de-AT" dirty="0" err="1"/>
              <a:t>Mattergeräte</a:t>
            </a:r>
            <a:r>
              <a:rPr lang="de-AT" dirty="0"/>
              <a:t> als Ergänzung</a:t>
            </a:r>
          </a:p>
          <a:p>
            <a:pPr lvl="1"/>
            <a:r>
              <a:rPr lang="de-AT" dirty="0"/>
              <a:t>Integration </a:t>
            </a:r>
            <a:r>
              <a:rPr lang="de-AT" dirty="0" err="1"/>
              <a:t>Alarmo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106473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E8D5BB-7DD0-3D25-1B6B-A2053502C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SwitchBot</a:t>
            </a:r>
            <a:r>
              <a:rPr lang="de-AT" dirty="0"/>
              <a:t> Lock Ultra 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CB7B172-BA1B-ED67-CDE7-DCB6C3EFEB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512" y="1036367"/>
            <a:ext cx="8207375" cy="4608165"/>
          </a:xfrm>
        </p:spPr>
        <p:txBody>
          <a:bodyPr/>
          <a:lstStyle/>
          <a:p>
            <a:r>
              <a:rPr lang="de-AT" dirty="0"/>
              <a:t>Matter über eigenen Hub und Wifi (nicht Thread)</a:t>
            </a:r>
          </a:p>
          <a:p>
            <a:r>
              <a:rPr lang="de-AT" dirty="0" err="1"/>
              <a:t>Keypad</a:t>
            </a:r>
            <a:r>
              <a:rPr lang="de-AT" dirty="0"/>
              <a:t> mit Face-</a:t>
            </a:r>
            <a:r>
              <a:rPr lang="de-AT" dirty="0" err="1"/>
              <a:t>Detection</a:t>
            </a:r>
            <a:endParaRPr lang="de-AT" dirty="0"/>
          </a:p>
          <a:p>
            <a:r>
              <a:rPr lang="de-AT" dirty="0"/>
              <a:t>Alternativen: </a:t>
            </a:r>
            <a:r>
              <a:rPr lang="de-AT" dirty="0" err="1"/>
              <a:t>Nuki</a:t>
            </a:r>
            <a:r>
              <a:rPr lang="de-AT" dirty="0"/>
              <a:t>, </a:t>
            </a:r>
            <a:r>
              <a:rPr lang="de-AT" dirty="0" err="1"/>
              <a:t>Aqara</a:t>
            </a:r>
            <a:r>
              <a:rPr lang="de-AT" dirty="0"/>
              <a:t>, …</a:t>
            </a:r>
          </a:p>
          <a:p>
            <a:endParaRPr lang="de-AT" dirty="0"/>
          </a:p>
        </p:txBody>
      </p:sp>
      <p:pic>
        <p:nvPicPr>
          <p:cNvPr id="5" name="Grafik 4" descr="Ein Bild, das Text, Elektronik, Screenshot, Elektronisches Gerät enthält.&#10;&#10;KI-generierte Inhalte können fehlerhaft sein.">
            <a:extLst>
              <a:ext uri="{FF2B5EF4-FFF2-40B4-BE49-F238E27FC236}">
                <a16:creationId xmlns:a16="http://schemas.microsoft.com/office/drawing/2014/main" id="{18EC6CBF-F4E4-AB04-24A0-6BE88027E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2852936"/>
            <a:ext cx="6369840" cy="3514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4392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973080-D163-65C1-F7A2-193EF4E9C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Energiemanagement mit PV und WP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43EEE2D-F19F-A726-D925-C35578CFAE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669D9FE-3E2E-0BC0-7C98-3D071D7C0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7257"/>
            <a:ext cx="9144000" cy="4563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4036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142148-E56E-B140-AB46-54954C3B5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Grüner Daumen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951E25D-F527-CCB6-0A3A-0FCCFD2442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254767C-CE9C-3C58-7851-258626016E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4" y="1340768"/>
            <a:ext cx="4294729" cy="4625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8188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EDFCD2-E3DF-209C-6F33-1F9B5EE9E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Sensoren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0AF2EA9-EF57-1C82-3D56-D801D3CFB6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1049" y="909067"/>
            <a:ext cx="8207375" cy="4608165"/>
          </a:xfrm>
        </p:spPr>
        <p:txBody>
          <a:bodyPr/>
          <a:lstStyle/>
          <a:p>
            <a:r>
              <a:rPr lang="de-AT" sz="2400" dirty="0" err="1"/>
              <a:t>Koubachi</a:t>
            </a:r>
            <a:r>
              <a:rPr lang="de-AT" sz="2400" dirty="0"/>
              <a:t> (ca. 2010) wurde von Gardena übernommen</a:t>
            </a:r>
          </a:p>
          <a:p>
            <a:pPr lvl="1"/>
            <a:r>
              <a:rPr lang="de-AT" sz="2000" dirty="0"/>
              <a:t>Sehr teuer (120€)</a:t>
            </a:r>
          </a:p>
          <a:p>
            <a:r>
              <a:rPr lang="de-AT" sz="2400" dirty="0" err="1"/>
              <a:t>Miflora</a:t>
            </a:r>
            <a:r>
              <a:rPr lang="de-AT" sz="2400" dirty="0"/>
              <a:t> von Xiaomi auf BLE</a:t>
            </a:r>
          </a:p>
          <a:p>
            <a:r>
              <a:rPr lang="de-AT" sz="2400" dirty="0" err="1"/>
              <a:t>Zigbee</a:t>
            </a:r>
            <a:r>
              <a:rPr lang="de-AT" sz="2400" dirty="0"/>
              <a:t>-Sensoren über </a:t>
            </a:r>
            <a:r>
              <a:rPr lang="de-AT" sz="2400" dirty="0" err="1"/>
              <a:t>AliExpress</a:t>
            </a:r>
            <a:endParaRPr lang="de-AT" sz="2400" dirty="0"/>
          </a:p>
          <a:p>
            <a:r>
              <a:rPr lang="de-AT" sz="2400" dirty="0"/>
              <a:t>433 MHz Sensoren</a:t>
            </a:r>
          </a:p>
          <a:p>
            <a:pPr lvl="1"/>
            <a:r>
              <a:rPr lang="de-AT" sz="2000" dirty="0"/>
              <a:t>Zubehör zu </a:t>
            </a:r>
            <a:r>
              <a:rPr lang="de-AT" sz="2000" dirty="0" err="1"/>
              <a:t>Misol</a:t>
            </a:r>
            <a:r>
              <a:rPr lang="de-AT" sz="2000" dirty="0"/>
              <a:t>-Wetterstation</a:t>
            </a:r>
          </a:p>
          <a:p>
            <a:endParaRPr lang="de-AT" sz="240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D43B864-C537-F0C4-6D6E-B9528B87A4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9524" y="3829786"/>
            <a:ext cx="1374926" cy="207607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6EA563E0-A086-1346-1DED-A0F3ACA99A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280" y="1780122"/>
            <a:ext cx="2151311" cy="1954654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817920AF-AD05-2A76-CF41-F9204D1395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138" y="3729194"/>
            <a:ext cx="4191846" cy="3128806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F9C404A8-A494-E66A-90D2-C970CE63AA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5991" y="3960440"/>
            <a:ext cx="2698009" cy="2924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0236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16A0C2-5024-7E6C-B2AD-D8D6EBB00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Einfache Variante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E18CE8D-6BA5-F79A-2DC9-F3D8BFBF2C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65D45B8-3227-22DF-E597-CB338B765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052736"/>
            <a:ext cx="7696200" cy="296227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9BBD3591-EFDD-F40C-3640-44733A8487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934" y="3645024"/>
            <a:ext cx="4762261" cy="2707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4236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9852F6-5354-F10E-9D10-AFE24E161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Pläne für die nächste Zeit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DC03BDA-F64E-0DC2-F2F9-755147F656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1052736"/>
            <a:ext cx="8207375" cy="4608165"/>
          </a:xfrm>
        </p:spPr>
        <p:txBody>
          <a:bodyPr/>
          <a:lstStyle/>
          <a:p>
            <a:r>
              <a:rPr lang="de-AT" sz="2400" dirty="0"/>
              <a:t>Monitoring und proaktives Maintenance</a:t>
            </a:r>
          </a:p>
          <a:p>
            <a:pPr lvl="1"/>
            <a:r>
              <a:rPr lang="de-AT" sz="2000" dirty="0"/>
              <a:t>Einsatz einer eigenen App, die auf meine Bedürfnisse zugeschnitten ist</a:t>
            </a:r>
          </a:p>
          <a:p>
            <a:pPr lvl="2"/>
            <a:r>
              <a:rPr lang="de-AT" sz="2000" dirty="0"/>
              <a:t>HA API</a:t>
            </a:r>
          </a:p>
          <a:p>
            <a:pPr lvl="2"/>
            <a:r>
              <a:rPr lang="de-AT" sz="2000" dirty="0" err="1"/>
              <a:t>Mqtt</a:t>
            </a:r>
            <a:endParaRPr lang="de-AT" sz="2000" dirty="0"/>
          </a:p>
          <a:p>
            <a:r>
              <a:rPr lang="de-AT" sz="2400" dirty="0"/>
              <a:t>Weiterentwicklung Energiemanagement</a:t>
            </a:r>
          </a:p>
          <a:p>
            <a:pPr lvl="1"/>
            <a:r>
              <a:rPr lang="de-AT" sz="2000" dirty="0"/>
              <a:t>Optimierungen Wärmepumpe</a:t>
            </a:r>
          </a:p>
          <a:p>
            <a:r>
              <a:rPr lang="de-AT" sz="2400" dirty="0"/>
              <a:t>Nutzung HA als Alarmanlage</a:t>
            </a:r>
          </a:p>
          <a:p>
            <a:r>
              <a:rPr lang="de-AT" sz="2400" dirty="0">
                <a:hlinkClick r:id="rId2"/>
              </a:rPr>
              <a:t>Elektronisches Türschloss</a:t>
            </a:r>
            <a:endParaRPr lang="de-AT" sz="2400" dirty="0"/>
          </a:p>
          <a:p>
            <a:r>
              <a:rPr lang="de-AT" sz="2400" dirty="0"/>
              <a:t>Neuaufsetzen des Systems</a:t>
            </a:r>
          </a:p>
          <a:p>
            <a:pPr lvl="1"/>
            <a:r>
              <a:rPr lang="de-AT" sz="2000" dirty="0"/>
              <a:t>Namenskonventionen</a:t>
            </a:r>
          </a:p>
          <a:p>
            <a:pPr lvl="1"/>
            <a:r>
              <a:rPr lang="de-AT" sz="2000" dirty="0"/>
              <a:t>Strikte Trennung Echtsystem/Entwicklungssystem</a:t>
            </a:r>
          </a:p>
        </p:txBody>
      </p:sp>
    </p:spTree>
    <p:extLst>
      <p:ext uri="{BB962C8B-B14F-4D97-AF65-F5344CB8AC3E}">
        <p14:creationId xmlns:p14="http://schemas.microsoft.com/office/powerpoint/2010/main" val="28346009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EB8BE3-E83F-2871-882B-D65246DC3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Anregungen für die Miniprojekte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4D15B12-9538-2DA1-E5CE-7E84CDF526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1052736"/>
            <a:ext cx="8207375" cy="4608165"/>
          </a:xfrm>
        </p:spPr>
        <p:txBody>
          <a:bodyPr/>
          <a:lstStyle/>
          <a:p>
            <a:r>
              <a:rPr lang="de-AT" sz="2000" dirty="0" err="1"/>
              <a:t>Zigbee</a:t>
            </a:r>
            <a:r>
              <a:rPr lang="de-AT" sz="2000" dirty="0"/>
              <a:t> Experimente</a:t>
            </a:r>
          </a:p>
          <a:p>
            <a:pPr lvl="1"/>
            <a:r>
              <a:rPr lang="de-AT" sz="1800" dirty="0" err="1"/>
              <a:t>Sonoff</a:t>
            </a:r>
            <a:r>
              <a:rPr lang="de-AT" sz="1800" dirty="0"/>
              <a:t> oder Ethernet-</a:t>
            </a:r>
            <a:r>
              <a:rPr lang="de-AT" sz="1800" dirty="0" err="1"/>
              <a:t>Zigbee</a:t>
            </a:r>
            <a:r>
              <a:rPr lang="de-AT" sz="1800" dirty="0"/>
              <a:t> Stick</a:t>
            </a:r>
          </a:p>
          <a:p>
            <a:pPr lvl="1"/>
            <a:r>
              <a:rPr lang="de-AT" sz="1800" dirty="0"/>
              <a:t>Verschiedene Sensoren/Aktoren</a:t>
            </a:r>
          </a:p>
          <a:p>
            <a:r>
              <a:rPr lang="de-AT" sz="2000" dirty="0"/>
              <a:t>Pflanzenbetreuung mit </a:t>
            </a:r>
            <a:r>
              <a:rPr lang="de-AT" sz="2000" dirty="0" err="1"/>
              <a:t>Bluetoothproxy</a:t>
            </a:r>
            <a:r>
              <a:rPr lang="de-AT" sz="2000" dirty="0"/>
              <a:t>, </a:t>
            </a:r>
            <a:r>
              <a:rPr lang="de-AT" sz="2000" dirty="0" err="1"/>
              <a:t>Zigbee</a:t>
            </a:r>
            <a:r>
              <a:rPr lang="de-AT" sz="2000" dirty="0"/>
              <a:t> oder 433MHz</a:t>
            </a:r>
          </a:p>
          <a:p>
            <a:r>
              <a:rPr lang="de-AT" sz="2000" dirty="0" err="1"/>
              <a:t>ESPHome</a:t>
            </a:r>
            <a:r>
              <a:rPr lang="de-AT" sz="2000" dirty="0"/>
              <a:t> mit OLED und verschiedenen Sensoren/Aktoren</a:t>
            </a:r>
          </a:p>
          <a:p>
            <a:pPr lvl="1"/>
            <a:r>
              <a:rPr lang="de-AT" sz="1800" dirty="0"/>
              <a:t>Radarsensoren mit Zonen oder Kfz-tauglich</a:t>
            </a:r>
          </a:p>
          <a:p>
            <a:pPr lvl="1"/>
            <a:r>
              <a:rPr lang="de-AT" sz="1800" dirty="0"/>
              <a:t>ESP32-Kamera</a:t>
            </a:r>
          </a:p>
          <a:p>
            <a:pPr lvl="1"/>
            <a:r>
              <a:rPr lang="de-AT" sz="1800" dirty="0" err="1"/>
              <a:t>Airquality</a:t>
            </a:r>
            <a:r>
              <a:rPr lang="de-AT" sz="1800" dirty="0"/>
              <a:t>-Sensor (BME680)</a:t>
            </a:r>
          </a:p>
          <a:p>
            <a:pPr lvl="1"/>
            <a:r>
              <a:rPr lang="de-AT" sz="1800" dirty="0" err="1"/>
              <a:t>NiLi</a:t>
            </a:r>
            <a:r>
              <a:rPr lang="de-AT" sz="1800" dirty="0"/>
              <a:t> Sensorboxen</a:t>
            </a:r>
          </a:p>
          <a:p>
            <a:r>
              <a:rPr lang="de-AT" sz="2000" dirty="0"/>
              <a:t>Matter über Wifi</a:t>
            </a:r>
          </a:p>
          <a:p>
            <a:r>
              <a:rPr lang="de-AT" sz="2000" dirty="0" err="1"/>
              <a:t>Annke</a:t>
            </a:r>
            <a:r>
              <a:rPr lang="de-AT" sz="2000" dirty="0"/>
              <a:t>-Kamera und Coral-Stick (</a:t>
            </a:r>
            <a:r>
              <a:rPr lang="de-AT" sz="2000" dirty="0" err="1"/>
              <a:t>Frigate</a:t>
            </a:r>
            <a:r>
              <a:rPr lang="de-AT" sz="2000" dirty="0"/>
              <a:t>)</a:t>
            </a:r>
          </a:p>
          <a:p>
            <a:r>
              <a:rPr lang="de-AT" sz="2000" dirty="0" err="1"/>
              <a:t>Ulanzi</a:t>
            </a:r>
            <a:r>
              <a:rPr lang="de-AT" sz="2000" dirty="0"/>
              <a:t> Desktop Clock (</a:t>
            </a:r>
            <a:r>
              <a:rPr lang="de-AT" sz="2000" dirty="0">
                <a:hlinkClick r:id="rId2"/>
              </a:rPr>
              <a:t>https://blakadder.com/esphome-pixel-clock/</a:t>
            </a:r>
            <a:r>
              <a:rPr lang="de-AT" sz="2000" dirty="0"/>
              <a:t>)</a:t>
            </a:r>
          </a:p>
          <a:p>
            <a:r>
              <a:rPr lang="de-AT" sz="2000" dirty="0"/>
              <a:t>Experimente mit eigener Hardware</a:t>
            </a:r>
          </a:p>
        </p:txBody>
      </p:sp>
    </p:spTree>
    <p:extLst>
      <p:ext uri="{BB962C8B-B14F-4D97-AF65-F5344CB8AC3E}">
        <p14:creationId xmlns:p14="http://schemas.microsoft.com/office/powerpoint/2010/main" val="29795818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E169E1-520E-F1E5-0BCA-80FCB0AE1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Basisinstallation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59A9445-0456-CCFB-7FA2-4115997F03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2F2995DB-4724-A456-CB08-53336CF97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925185"/>
            <a:ext cx="5614194" cy="5541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4838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A7BC50-93A4-42FE-7FB9-07B386476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Backup einspielen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C851DA6-2743-BCFF-76AE-CD6EC4610C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4679751" cy="4608165"/>
          </a:xfrm>
        </p:spPr>
        <p:txBody>
          <a:bodyPr/>
          <a:lstStyle/>
          <a:p>
            <a:r>
              <a:rPr lang="de-AT" dirty="0"/>
              <a:t>Backup von </a:t>
            </a:r>
            <a:r>
              <a:rPr lang="de-AT" dirty="0" err="1"/>
              <a:t>Github</a:t>
            </a:r>
            <a:r>
              <a:rPr lang="de-AT" dirty="0"/>
              <a:t> herunterladen</a:t>
            </a:r>
          </a:p>
          <a:p>
            <a:r>
              <a:rPr lang="de-AT" dirty="0"/>
              <a:t>Auf HA hochladen</a:t>
            </a:r>
          </a:p>
          <a:p>
            <a:r>
              <a:rPr lang="de-AT" dirty="0"/>
              <a:t>Nachher Instanz-ID ändern</a:t>
            </a:r>
          </a:p>
        </p:txBody>
      </p:sp>
      <p:pic>
        <p:nvPicPr>
          <p:cNvPr id="5" name="Grafik 4" descr="Ein Bild, das Text, Screenshot, Zahl, Schrift enthält.&#10;&#10;KI-generierte Inhalte können fehlerhaft sein.">
            <a:extLst>
              <a:ext uri="{FF2B5EF4-FFF2-40B4-BE49-F238E27FC236}">
                <a16:creationId xmlns:a16="http://schemas.microsoft.com/office/drawing/2014/main" id="{1ECA0BA1-41DB-1C22-CDBD-9F5CD96F21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064" y="1274684"/>
            <a:ext cx="3800255" cy="52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8080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19726D-D48A-08B0-3462-C1DB7458A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Ausgangssituation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AA7356B-8A7C-355F-F804-3144E48411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Verfügbare Sensoren und Aktoren über </a:t>
            </a:r>
            <a:r>
              <a:rPr lang="de-AT" dirty="0" err="1"/>
              <a:t>Mqtt</a:t>
            </a:r>
            <a:endParaRPr lang="de-AT" dirty="0"/>
          </a:p>
          <a:p>
            <a:pPr lvl="1"/>
            <a:r>
              <a:rPr lang="de-AT" dirty="0" err="1"/>
              <a:t>Zigbee</a:t>
            </a:r>
            <a:endParaRPr lang="de-AT" dirty="0"/>
          </a:p>
          <a:p>
            <a:pPr lvl="2"/>
            <a:r>
              <a:rPr lang="de-AT" dirty="0"/>
              <a:t>Plug, </a:t>
            </a:r>
          </a:p>
          <a:p>
            <a:pPr lvl="1"/>
            <a:r>
              <a:rPr lang="de-AT" dirty="0" err="1"/>
              <a:t>EspHome</a:t>
            </a:r>
            <a:endParaRPr lang="de-AT" dirty="0"/>
          </a:p>
          <a:p>
            <a:pPr lvl="2"/>
            <a:r>
              <a:rPr lang="de-AT"/>
              <a:t>SensorBox</a:t>
            </a:r>
          </a:p>
          <a:p>
            <a:pPr lvl="1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726429516"/>
      </p:ext>
    </p:extLst>
  </p:cSld>
  <p:clrMapOvr>
    <a:masterClrMapping/>
  </p:clrMapOvr>
</p:sld>
</file>

<file path=ppt/theme/theme1.xml><?xml version="1.0" encoding="utf-8"?>
<a:theme xmlns:a="http://schemas.openxmlformats.org/drawingml/2006/main" name="2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1055</Words>
  <Application>Microsoft Office PowerPoint</Application>
  <PresentationFormat>Bildschirmpräsentation (4:3)</PresentationFormat>
  <Paragraphs>268</Paragraphs>
  <Slides>34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34</vt:i4>
      </vt:variant>
    </vt:vector>
  </HeadingPairs>
  <TitlesOfParts>
    <vt:vector size="40" baseType="lpstr">
      <vt:lpstr>Arial</vt:lpstr>
      <vt:lpstr>Calibri</vt:lpstr>
      <vt:lpstr>Consolas</vt:lpstr>
      <vt:lpstr>Symbol</vt:lpstr>
      <vt:lpstr>Wingdings</vt:lpstr>
      <vt:lpstr>2_Larissa</vt:lpstr>
      <vt:lpstr>Herzlich willkommen</vt:lpstr>
      <vt:lpstr>Kursunterlagen</vt:lpstr>
      <vt:lpstr>Geplanter Ablauf - Montag</vt:lpstr>
      <vt:lpstr>Geplanter Ablauf - Dienstag</vt:lpstr>
      <vt:lpstr>Geplanter Ablauf - Mittwoch</vt:lpstr>
      <vt:lpstr>Kurs-HW  - Home Assistant</vt:lpstr>
      <vt:lpstr>SmartHome – WOZU?</vt:lpstr>
      <vt:lpstr>Neuigkeiten seit dem Vorjahr</vt:lpstr>
      <vt:lpstr>Voraussetzungen für smartes Home</vt:lpstr>
      <vt:lpstr>Aktuelle Situation blieb fast unverändert</vt:lpstr>
      <vt:lpstr>Wieso also immer noch  HomeAssistant?</vt:lpstr>
      <vt:lpstr>Und wieso auch nicht!</vt:lpstr>
      <vt:lpstr>HA – Installationsmethoden (SW)</vt:lpstr>
      <vt:lpstr>Hardware-Plattformen</vt:lpstr>
      <vt:lpstr>Remote Access ist notwendig</vt:lpstr>
      <vt:lpstr>Was kann ich mit HA machen?</vt:lpstr>
      <vt:lpstr>Visualisierung </vt:lpstr>
      <vt:lpstr>Companion-App ist sehr zu empfehlen</vt:lpstr>
      <vt:lpstr>Notification per HA-App oder Handy</vt:lpstr>
      <vt:lpstr>Tablet als günstige Zentrale</vt:lpstr>
      <vt:lpstr>Apps erweitern die Funktionalität</vt:lpstr>
      <vt:lpstr>Integrationen integrieren Geräte/Plattformen</vt:lpstr>
      <vt:lpstr>Eigene positive Erfahrungen mit …</vt:lpstr>
      <vt:lpstr>Kernthemen im Seminar</vt:lpstr>
      <vt:lpstr>SwitchBot Lock Ultra </vt:lpstr>
      <vt:lpstr>Energiemanagement mit PV und WP</vt:lpstr>
      <vt:lpstr>Grüner Daumen</vt:lpstr>
      <vt:lpstr>Sensoren</vt:lpstr>
      <vt:lpstr>Einfache Variante</vt:lpstr>
      <vt:lpstr>Pläne für die nächste Zeit</vt:lpstr>
      <vt:lpstr>Anregungen für die Miniprojekte</vt:lpstr>
      <vt:lpstr>Basisinstallation</vt:lpstr>
      <vt:lpstr>Backup einspielen</vt:lpstr>
      <vt:lpstr>Ausgangssituation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Köck</dc:creator>
  <cp:lastModifiedBy>Gerald Köck</cp:lastModifiedBy>
  <cp:revision>886</cp:revision>
  <dcterms:created xsi:type="dcterms:W3CDTF">2011-08-18T07:37:01Z</dcterms:created>
  <dcterms:modified xsi:type="dcterms:W3CDTF">2026-03-08T10:08:46Z</dcterms:modified>
</cp:coreProperties>
</file>