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6" r:id="rId1"/>
  </p:sldMasterIdLst>
  <p:notesMasterIdLst>
    <p:notesMasterId r:id="rId31"/>
  </p:notesMasterIdLst>
  <p:handoutMasterIdLst>
    <p:handoutMasterId r:id="rId32"/>
  </p:handoutMasterIdLst>
  <p:sldIdLst>
    <p:sldId id="1288" r:id="rId2"/>
    <p:sldId id="1296" r:id="rId3"/>
    <p:sldId id="1268" r:id="rId4"/>
    <p:sldId id="1279" r:id="rId5"/>
    <p:sldId id="1269" r:id="rId6"/>
    <p:sldId id="1278" r:id="rId7"/>
    <p:sldId id="1297" r:id="rId8"/>
    <p:sldId id="1298" r:id="rId9"/>
    <p:sldId id="1283" r:id="rId10"/>
    <p:sldId id="1284" r:id="rId11"/>
    <p:sldId id="1281" r:id="rId12"/>
    <p:sldId id="1285" r:id="rId13"/>
    <p:sldId id="1286" r:id="rId14"/>
    <p:sldId id="1270" r:id="rId15"/>
    <p:sldId id="1287" r:id="rId16"/>
    <p:sldId id="1272" r:id="rId17"/>
    <p:sldId id="1299" r:id="rId18"/>
    <p:sldId id="1295" r:id="rId19"/>
    <p:sldId id="1277" r:id="rId20"/>
    <p:sldId id="1291" r:id="rId21"/>
    <p:sldId id="1300" r:id="rId22"/>
    <p:sldId id="1301" r:id="rId23"/>
    <p:sldId id="1292" r:id="rId24"/>
    <p:sldId id="1293" r:id="rId25"/>
    <p:sldId id="1282" r:id="rId26"/>
    <p:sldId id="1302" r:id="rId27"/>
    <p:sldId id="1294" r:id="rId28"/>
    <p:sldId id="1303" r:id="rId29"/>
    <p:sldId id="1304" r:id="rId30"/>
  </p:sldIdLst>
  <p:sldSz cx="9144000" cy="6858000" type="screen4x3"/>
  <p:notesSz cx="6797675" cy="9926638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0000"/>
    <a:srgbClr val="FFAA01"/>
    <a:srgbClr val="F99707"/>
    <a:srgbClr val="FCB504"/>
    <a:srgbClr val="B52217"/>
    <a:srgbClr val="960000"/>
    <a:srgbClr val="A40000"/>
    <a:srgbClr val="D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6209" autoAdjust="0"/>
  </p:normalViewPr>
  <p:slideViewPr>
    <p:cSldViewPr>
      <p:cViewPr varScale="1">
        <p:scale>
          <a:sx n="80" d="100"/>
          <a:sy n="80" d="100"/>
        </p:scale>
        <p:origin x="2472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322"/>
    </p:cViewPr>
  </p:sorterViewPr>
  <p:notesViewPr>
    <p:cSldViewPr>
      <p:cViewPr varScale="1">
        <p:scale>
          <a:sx n="81" d="100"/>
          <a:sy n="81" d="100"/>
        </p:scale>
        <p:origin x="-2844" y="-9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87F52D72-ED1D-48E3-B38D-D27DF71D5328}" type="datetimeFigureOut">
              <a:rPr lang="de-AT"/>
              <a:pPr>
                <a:defRPr/>
              </a:pPr>
              <a:t>03.03.2026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B8876E5-8CB2-488D-BB52-3FDCCA373F31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48035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3163736-15EA-4775-815E-DDF88F21B7ED}" type="datetimeFigureOut">
              <a:rPr lang="de-AT"/>
              <a:pPr>
                <a:defRPr/>
              </a:pPr>
              <a:t>03.03.2026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AT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6EAC6C9-0F3A-40E0-896B-88DE66496CB5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1234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dirty="0" err="1"/>
              <a:t>external_hostname</a:t>
            </a:r>
            <a:r>
              <a:rPr lang="de-AT" dirty="0"/>
              <a:t>: ""</a:t>
            </a:r>
            <a:r>
              <a:rPr lang="de-AT" dirty="0" err="1"/>
              <a:t>additional_hosts</a:t>
            </a:r>
            <a:r>
              <a:rPr lang="de-AT" dirty="0"/>
              <a:t>: []</a:t>
            </a:r>
            <a:r>
              <a:rPr lang="de-AT" dirty="0" err="1"/>
              <a:t>tunnel_token</a:t>
            </a:r>
            <a:r>
              <a:rPr lang="de-AT" dirty="0"/>
              <a:t>: &gt;-  eyJhIjoiMzM0NWE1YTFlNDJlMTczMmQxYjI4ZjM4ZGFjNTg1ZWYiLCJ0IjoiZGQ2OTQ2YTUtZDVmNC00YmY1LWEyZjktYmY2YTg3ZTk2NDlkIiwicyI6IlpqQTFNMlpsTUdVdFpXSXdZeTAwTURJeUxUZ3dZamN0WWpnNU9URmlZbVEyWVRRNSJ9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6EAC6C9-0F3A-40E0-896B-88DE66496CB5}" type="slidenum">
              <a:rPr lang="de-AT" smtClean="0"/>
              <a:pPr>
                <a:defRPr/>
              </a:pPr>
              <a:t>27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7957369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4879B4"/>
              </a:gs>
              <a:gs pos="0">
                <a:schemeClr val="tx2"/>
              </a:gs>
              <a:gs pos="50000">
                <a:schemeClr val="accent1"/>
              </a:gs>
              <a:gs pos="100000">
                <a:schemeClr val="tx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12" name="Rechteck 11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C5A4FFB9-E613-43CD-964A-AE1E9E6225EE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ithub.com/homeassistant-apps/repository" TargetMode="Externa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8303DA-E86C-93EC-A507-D51E3F1DD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Cloudflare - Überblick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084F8C4-FA76-958D-C278-E07B130F53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980728"/>
            <a:ext cx="8207375" cy="4608165"/>
          </a:xfrm>
        </p:spPr>
        <p:txBody>
          <a:bodyPr/>
          <a:lstStyle/>
          <a:p>
            <a:r>
              <a:rPr lang="de-AT" sz="2400" dirty="0"/>
              <a:t>Schutzschirm über meinem HA</a:t>
            </a:r>
          </a:p>
          <a:p>
            <a:pPr lvl="1"/>
            <a:r>
              <a:rPr lang="de-AT" sz="2000" dirty="0"/>
              <a:t>Keine Portweiterleitung im Router nötig</a:t>
            </a:r>
          </a:p>
          <a:p>
            <a:pPr lvl="1"/>
            <a:r>
              <a:rPr lang="de-AT" sz="2000" dirty="0"/>
              <a:t>HTTP-Verkehr läuft über Cloudflare</a:t>
            </a:r>
          </a:p>
          <a:p>
            <a:pPr lvl="1"/>
            <a:r>
              <a:rPr lang="de-AT" sz="2000" dirty="0"/>
              <a:t>Eigene Domain erforderlich</a:t>
            </a:r>
          </a:p>
          <a:p>
            <a:r>
              <a:rPr lang="de-AT" sz="2400" dirty="0"/>
              <a:t>Einschränkungen des http-Traffics</a:t>
            </a:r>
          </a:p>
          <a:p>
            <a:pPr lvl="1"/>
            <a:r>
              <a:rPr lang="de-AT" sz="2000" dirty="0"/>
              <a:t>Authentication über z.B. Google, Facebook, …</a:t>
            </a:r>
          </a:p>
          <a:p>
            <a:pPr lvl="1"/>
            <a:r>
              <a:rPr lang="de-AT" sz="2000" dirty="0"/>
              <a:t>Zugang nur für bestimmte Länder</a:t>
            </a:r>
          </a:p>
          <a:p>
            <a:pPr lvl="2"/>
            <a:r>
              <a:rPr lang="de-AT" sz="2000" dirty="0"/>
              <a:t>Beschränkung auf Österreich reduziert Angriffe erheblich</a:t>
            </a:r>
          </a:p>
          <a:p>
            <a:r>
              <a:rPr lang="de-AT" sz="2200" dirty="0"/>
              <a:t>Technisch</a:t>
            </a:r>
          </a:p>
          <a:p>
            <a:pPr lvl="1"/>
            <a:r>
              <a:rPr lang="de-AT" sz="2000" dirty="0"/>
              <a:t>Letztgültiger DNS-Provider für die Domain (Senke aller Anfragen)</a:t>
            </a:r>
          </a:p>
          <a:p>
            <a:pPr lvl="2"/>
            <a:r>
              <a:rPr lang="de-AT" sz="1800" dirty="0"/>
              <a:t>Eigene IP-Adresse bleibt geheim</a:t>
            </a:r>
          </a:p>
          <a:p>
            <a:pPr lvl="1"/>
            <a:r>
              <a:rPr lang="de-AT" sz="2000" dirty="0"/>
              <a:t>Reverse Proxy und CDN</a:t>
            </a:r>
          </a:p>
          <a:p>
            <a:pPr lvl="1"/>
            <a:r>
              <a:rPr lang="de-AT" sz="2000" dirty="0"/>
              <a:t>Verwaltet TLS und Zertifikate</a:t>
            </a:r>
          </a:p>
        </p:txBody>
      </p:sp>
    </p:spTree>
    <p:extLst>
      <p:ext uri="{BB962C8B-B14F-4D97-AF65-F5344CB8AC3E}">
        <p14:creationId xmlns:p14="http://schemas.microsoft.com/office/powerpoint/2010/main" val="2728640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6F581F-CE7C-027F-F4FB-4788D5175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n8n ist viel einfacher mit Cloudflare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AA1F9B1-4232-7820-2D73-FF63A71F7FC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nN8n kommuniziert mit externen Diensten</a:t>
            </a:r>
          </a:p>
          <a:p>
            <a:pPr lvl="1"/>
            <a:r>
              <a:rPr lang="de-AT" dirty="0"/>
              <a:t>Empfängt Mails</a:t>
            </a:r>
          </a:p>
          <a:p>
            <a:pPr lvl="1"/>
            <a:r>
              <a:rPr lang="de-AT" dirty="0"/>
              <a:t>Schreibt in Google Sheets</a:t>
            </a:r>
          </a:p>
          <a:p>
            <a:pPr lvl="1"/>
            <a:r>
              <a:rPr lang="de-AT" dirty="0"/>
              <a:t>Kommuniziert per </a:t>
            </a:r>
            <a:r>
              <a:rPr lang="de-AT" dirty="0" err="1"/>
              <a:t>Telegram</a:t>
            </a:r>
            <a:endParaRPr lang="de-AT" dirty="0"/>
          </a:p>
          <a:p>
            <a:pPr lvl="1"/>
            <a:r>
              <a:rPr lang="de-AT" dirty="0"/>
              <a:t>…</a:t>
            </a:r>
          </a:p>
          <a:p>
            <a:r>
              <a:rPr lang="de-AT" dirty="0"/>
              <a:t>Cloudflare ermöglicht den Zugriff</a:t>
            </a:r>
          </a:p>
          <a:p>
            <a:pPr lvl="1"/>
            <a:r>
              <a:rPr lang="de-AT" dirty="0"/>
              <a:t>Schränkt den Verkehr, wo möglich ein</a:t>
            </a:r>
          </a:p>
          <a:p>
            <a:r>
              <a:rPr lang="de-AT" dirty="0"/>
              <a:t>Ohne Cloudflare müsste alles am Router konfiguriert werden</a:t>
            </a:r>
          </a:p>
        </p:txBody>
      </p:sp>
    </p:spTree>
    <p:extLst>
      <p:ext uri="{BB962C8B-B14F-4D97-AF65-F5344CB8AC3E}">
        <p14:creationId xmlns:p14="http://schemas.microsoft.com/office/powerpoint/2010/main" val="3473890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301061-3394-5B93-400C-59E7E0EFE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Domain registrieren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352868A-B869-1F48-F3A2-A0A9606D04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980728"/>
            <a:ext cx="8207375" cy="4608165"/>
          </a:xfrm>
        </p:spPr>
        <p:txBody>
          <a:bodyPr/>
          <a:lstStyle/>
          <a:p>
            <a:r>
              <a:rPr lang="de-AT" sz="2400" dirty="0"/>
              <a:t>Direkt bei Cloudflare zu Selbstkostenpreis</a:t>
            </a:r>
          </a:p>
          <a:p>
            <a:r>
              <a:rPr lang="de-AT" sz="2400" dirty="0"/>
              <a:t>Es gibt auch kostenlose Provider</a:t>
            </a:r>
          </a:p>
        </p:txBody>
      </p:sp>
      <p:pic>
        <p:nvPicPr>
          <p:cNvPr id="5" name="Grafik 4" descr="Ein Bild, das Text, Screenshot, Zahl, Schrift enthält.&#10;&#10;KI-generierte Inhalte können fehlerhaft sein.">
            <a:extLst>
              <a:ext uri="{FF2B5EF4-FFF2-40B4-BE49-F238E27FC236}">
                <a16:creationId xmlns:a16="http://schemas.microsoft.com/office/drawing/2014/main" id="{60A9A29B-FEDF-A473-2773-E99A30571E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2145613"/>
            <a:ext cx="7020272" cy="381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215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C944DF-17BD-7995-906B-79309E631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Cloudflare – Domain konfigurieren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BB982D-5D92-39FD-144E-C1E906BAAD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C3CFD54F-A0A6-2985-FD29-DF4972EA5A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89549"/>
            <a:ext cx="9144000" cy="2878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469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666B4A-39CF-EF64-A234-F889204DE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HA - </a:t>
            </a:r>
            <a:r>
              <a:rPr lang="de-AT" dirty="0" err="1"/>
              <a:t>CloudFlared</a:t>
            </a:r>
            <a:r>
              <a:rPr lang="de-AT" dirty="0"/>
              <a:t>-App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DEE458D-8CB6-98B1-F84C-E7E27E76C7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sz="24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Repository hinzufügen</a:t>
            </a:r>
          </a:p>
          <a:p>
            <a:pPr lvl="1"/>
            <a:r>
              <a:rPr lang="de-AT" dirty="0">
                <a:hlinkClick r:id="rId2"/>
              </a:rPr>
              <a:t>https://github.com/homeassistant-apps/repository</a:t>
            </a:r>
            <a:r>
              <a:rPr lang="de-AT" dirty="0"/>
              <a:t> </a:t>
            </a:r>
          </a:p>
        </p:txBody>
      </p:sp>
      <p:pic>
        <p:nvPicPr>
          <p:cNvPr id="5" name="Grafik 4" descr="Ein Bild, das Text, Screenshot, Software, Webseite enthält.&#10;&#10;KI-generierte Inhalte können fehlerhaft sein.">
            <a:extLst>
              <a:ext uri="{FF2B5EF4-FFF2-40B4-BE49-F238E27FC236}">
                <a16:creationId xmlns:a16="http://schemas.microsoft.com/office/drawing/2014/main" id="{5C1B81A6-5861-FF59-CD0D-D720C312B9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041" y="2420888"/>
            <a:ext cx="7255917" cy="3731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96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C9246F-5235-CD77-81D0-F8BDA46C5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HA auf Subdomain registrieren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6A581B1-B0BD-0EF3-5DFE-A78BE21BF8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5536" y="980728"/>
            <a:ext cx="8207375" cy="4608165"/>
          </a:xfrm>
        </p:spPr>
        <p:txBody>
          <a:bodyPr/>
          <a:lstStyle/>
          <a:p>
            <a:r>
              <a:rPr lang="de-AT" dirty="0" err="1"/>
              <a:t>AddOn</a:t>
            </a:r>
            <a:r>
              <a:rPr lang="de-AT" dirty="0"/>
              <a:t> konfigurieren</a:t>
            </a:r>
          </a:p>
        </p:txBody>
      </p:sp>
      <p:pic>
        <p:nvPicPr>
          <p:cNvPr id="5" name="Grafik 4" descr="Ein Bild, das Text, Screenshot, Software, Webseite enthält.&#10;&#10;KI-generierte Inhalte können fehlerhaft sein.">
            <a:extLst>
              <a:ext uri="{FF2B5EF4-FFF2-40B4-BE49-F238E27FC236}">
                <a16:creationId xmlns:a16="http://schemas.microsoft.com/office/drawing/2014/main" id="{0EB7F343-60A6-FA6C-6F07-6BF3C88954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1809719"/>
            <a:ext cx="9144000" cy="5014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672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24400E-176A-E0C1-611F-59347086B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Mehrere Hosts sind kein Problem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0F3C45B-80D6-8695-D4FA-9489CAD67E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980728"/>
            <a:ext cx="8207375" cy="4608165"/>
          </a:xfrm>
        </p:spPr>
        <p:txBody>
          <a:bodyPr/>
          <a:lstStyle/>
          <a:p>
            <a:r>
              <a:rPr lang="de-AT" sz="2400" dirty="0" err="1"/>
              <a:t>Synology</a:t>
            </a:r>
            <a:r>
              <a:rPr lang="de-AT" sz="2400" dirty="0"/>
              <a:t>, n8n, …</a:t>
            </a:r>
          </a:p>
          <a:p>
            <a:r>
              <a:rPr lang="de-AT" sz="2400" dirty="0"/>
              <a:t>Zweiter HA schon, weil er </a:t>
            </a:r>
            <a:r>
              <a:rPr lang="de-AT" sz="2400" dirty="0" err="1"/>
              <a:t>homeassistant</a:t>
            </a:r>
            <a:r>
              <a:rPr lang="de-AT" sz="2400" dirty="0"/>
              <a:t> als Tunnelname verwendet (muss eindeutig sein)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4B76DE0-9730-1E6F-CD6D-891546692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99" y="2641401"/>
            <a:ext cx="7365901" cy="4189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646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DFD226-50C3-695A-1A15-A485D79C4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Proxies</a:t>
            </a:r>
            <a:r>
              <a:rPr lang="de-AT" dirty="0"/>
              <a:t> zulassen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5B369A9-417E-FF6B-2D81-56F0919571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Echtbetrieb </a:t>
            </a:r>
            <a:r>
              <a:rPr lang="de-AT" dirty="0">
                <a:sym typeface="Wingdings" panose="05000000000000000000" pitchFamily="2" charset="2"/>
              </a:rPr>
              <a:t> selektiver und </a:t>
            </a:r>
            <a:r>
              <a:rPr lang="de-AT" dirty="0" err="1">
                <a:sym typeface="Wingdings" panose="05000000000000000000" pitchFamily="2" charset="2"/>
              </a:rPr>
              <a:t>ip_ban_enabled</a:t>
            </a:r>
            <a:r>
              <a:rPr lang="de-AT" dirty="0">
                <a:sym typeface="Wingdings" panose="05000000000000000000" pitchFamily="2" charset="2"/>
              </a:rPr>
              <a:t> = </a:t>
            </a:r>
            <a:r>
              <a:rPr lang="de-AT" dirty="0" err="1">
                <a:sym typeface="Wingdings" panose="05000000000000000000" pitchFamily="2" charset="2"/>
              </a:rPr>
              <a:t>true</a:t>
            </a:r>
            <a:endParaRPr lang="de-AT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FE620D5-3408-1DD0-BA19-4988819DBE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2060848"/>
            <a:ext cx="7488832" cy="3300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240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20BAC9-99D3-45F6-7A02-EE960F410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AddOn</a:t>
            </a:r>
            <a:r>
              <a:rPr lang="de-AT" dirty="0"/>
              <a:t> starten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ACF91FB-F932-7A7E-3199-279A9EB640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 descr="Ein Bild, das Text, Screenshot, Software, Multimedia-Software enthält.&#10;&#10;KI-generierte Inhalte können fehlerhaft sein.">
            <a:extLst>
              <a:ext uri="{FF2B5EF4-FFF2-40B4-BE49-F238E27FC236}">
                <a16:creationId xmlns:a16="http://schemas.microsoft.com/office/drawing/2014/main" id="{11713680-7472-E4A4-5B02-FBF5AF2ED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156" y="1114730"/>
            <a:ext cx="8675688" cy="4916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536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DF0015-0008-25C7-1912-7A053378E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Link verwenden </a:t>
            </a:r>
            <a:r>
              <a:rPr lang="de-AT" dirty="0">
                <a:sym typeface="Wingdings" panose="05000000000000000000" pitchFamily="2" charset="2"/>
              </a:rPr>
              <a:t> Autorisieren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0D9F64F-7451-0ADE-536E-2AC045E8C4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 descr="Ein Bild, das Text, Screenshot, Software, Display enthält.&#10;&#10;KI-generierte Inhalte können fehlerhaft sein.">
            <a:extLst>
              <a:ext uri="{FF2B5EF4-FFF2-40B4-BE49-F238E27FC236}">
                <a16:creationId xmlns:a16="http://schemas.microsoft.com/office/drawing/2014/main" id="{733BC56C-2CDF-2AEA-D4B6-97967A918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7884"/>
            <a:ext cx="9144000" cy="4025471"/>
          </a:xfrm>
          <a:prstGeom prst="rect">
            <a:avLst/>
          </a:prstGeom>
        </p:spPr>
      </p:pic>
      <p:pic>
        <p:nvPicPr>
          <p:cNvPr id="7" name="Grafik 6" descr="Ein Bild, das Text, Algebra, Schrift, weiß enthält.&#10;&#10;KI-generierte Inhalte können fehlerhaft sein.">
            <a:extLst>
              <a:ext uri="{FF2B5EF4-FFF2-40B4-BE49-F238E27FC236}">
                <a16:creationId xmlns:a16="http://schemas.microsoft.com/office/drawing/2014/main" id="{DF02A2AA-7DA1-546D-D8A1-732FD02C3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5119" y="5235488"/>
            <a:ext cx="6227241" cy="1360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7820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46C2A4-9FE0-E17A-1503-E9E0F6E28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Rückmeldung in HA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CCC98EB-B5BC-A2DD-8ED1-0FB25420AB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 descr="Ein Bild, das Text, Screenshot enthält.&#10;&#10;KI-generierte Inhalte können fehlerhaft sein.">
            <a:extLst>
              <a:ext uri="{FF2B5EF4-FFF2-40B4-BE49-F238E27FC236}">
                <a16:creationId xmlns:a16="http://schemas.microsoft.com/office/drawing/2014/main" id="{56032C71-A0F9-3A52-8C7D-B84930AAE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24676"/>
            <a:ext cx="9144000" cy="3608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8182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85DBC8-BE76-CB0F-8997-F4E0D6DCF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Über </a:t>
            </a:r>
            <a:r>
              <a:rPr lang="de-AT"/>
              <a:t>Internet erreichbar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3338A04-8A35-E22D-3CC7-FFA2C820C2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506EDF8A-8A69-1EC7-FA0D-28ED4AE5C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752" y="1700808"/>
            <a:ext cx="3884377" cy="485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5702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CA640C-EEE4-F1D7-14AC-7F30A00D8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Zugriff nur aus Österreich möglich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B3B42FD-4055-66A1-EA13-C54DB40FBC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8310DD78-5858-362B-A119-A38955F41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8400"/>
            <a:ext cx="9144000" cy="45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9851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E1BB31-AD15-DD40-1EBF-8C3F0C798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89F88A4-0CBE-1FE9-7FB2-BC5DBC293D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 descr="Ein Bild, das Text, Screenshot, Zahl, Software enthält.&#10;&#10;KI-generierte Inhalte können fehlerhaft sein.">
            <a:extLst>
              <a:ext uri="{FF2B5EF4-FFF2-40B4-BE49-F238E27FC236}">
                <a16:creationId xmlns:a16="http://schemas.microsoft.com/office/drawing/2014/main" id="{922D6DA5-D2FA-DD80-9DBE-93021588F8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53" y="0"/>
            <a:ext cx="89128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1124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E34BF3-70CC-EDE9-9211-A6545FDCB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DNS Propagation Checker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201D5CA-2B56-05CB-384C-771B7A94E4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1052736"/>
            <a:ext cx="8207375" cy="4608165"/>
          </a:xfrm>
        </p:spPr>
        <p:txBody>
          <a:bodyPr/>
          <a:lstStyle/>
          <a:p>
            <a:r>
              <a:rPr lang="de-AT" dirty="0"/>
              <a:t>Dauert eine Weile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745CE73-09A5-2DFE-9156-580636450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7383" y="1546882"/>
            <a:ext cx="7308304" cy="5164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8545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72157B-A2C0-DEE9-16C3-FFCAF439B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AT" dirty="0"/>
              <a:t>Instanz ist im eigenen Netz nicht erreichbar</a:t>
            </a:r>
            <a:br>
              <a:rPr lang="de-AT" dirty="0"/>
            </a:b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1E916CB-7A45-CAF4-A8D2-FA7037CF68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DNS-</a:t>
            </a:r>
            <a:r>
              <a:rPr lang="de-AT" dirty="0" err="1"/>
              <a:t>Rebind</a:t>
            </a:r>
            <a:r>
              <a:rPr lang="de-AT" dirty="0"/>
              <a:t>-Schutz deaktivieren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A4BB68BE-C3A9-EDC3-0332-5B96812C16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988840"/>
            <a:ext cx="7360170" cy="410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6223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C097D3-9CEF-5AC2-C6E4-6AD950CE7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Weitere HA-Instanzen registrieren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CB8B54B-EFEF-8B73-0EE7-F54A84AADE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Am selben Standort </a:t>
            </a:r>
            <a:r>
              <a:rPr lang="de-AT" dirty="0">
                <a:sym typeface="Wingdings" panose="05000000000000000000" pitchFamily="2" charset="2"/>
              </a:rPr>
              <a:t> Testsystem</a:t>
            </a:r>
          </a:p>
          <a:p>
            <a:r>
              <a:rPr lang="de-AT" dirty="0">
                <a:sym typeface="Wingdings" panose="05000000000000000000" pitchFamily="2" charset="2"/>
              </a:rPr>
              <a:t>Weiterer Standort  Wochenendhaus</a:t>
            </a:r>
          </a:p>
          <a:p>
            <a:pPr lvl="1"/>
            <a:r>
              <a:rPr lang="de-AT" dirty="0" err="1">
                <a:sym typeface="Wingdings" panose="05000000000000000000" pitchFamily="2" charset="2"/>
              </a:rPr>
              <a:t>Sperlhof</a:t>
            </a:r>
            <a:endParaRPr lang="de-AT" dirty="0">
              <a:sym typeface="Wingdings" panose="05000000000000000000" pitchFamily="2" charset="2"/>
            </a:endParaRPr>
          </a:p>
          <a:p>
            <a:r>
              <a:rPr lang="de-AT" dirty="0"/>
              <a:t>Zweite </a:t>
            </a:r>
            <a:r>
              <a:rPr lang="de-AT" dirty="0" err="1"/>
              <a:t>HomeAssitant</a:t>
            </a:r>
            <a:r>
              <a:rPr lang="de-AT" dirty="0"/>
              <a:t>-Instanz verwendet Standard-Tunnelname „</a:t>
            </a:r>
            <a:r>
              <a:rPr lang="de-AT" dirty="0" err="1"/>
              <a:t>homeassistant</a:t>
            </a:r>
            <a:r>
              <a:rPr lang="de-AT" dirty="0"/>
              <a:t>“</a:t>
            </a:r>
          </a:p>
          <a:p>
            <a:pPr lvl="1"/>
            <a:r>
              <a:rPr lang="de-AT" dirty="0"/>
              <a:t>Tunnelnamen ändern oder Tunnel explizit installieren</a:t>
            </a:r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3797068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F8B6FC-5C2F-742E-7780-379004957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AddOn</a:t>
            </a:r>
            <a:r>
              <a:rPr lang="de-AT" dirty="0"/>
              <a:t>-Start meldet Fehler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47DD66A-D314-D1D9-6A22-55CCF8D02D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Tunnelname </a:t>
            </a:r>
            <a:r>
              <a:rPr lang="de-AT" dirty="0" err="1"/>
              <a:t>homeassistant</a:t>
            </a:r>
            <a:r>
              <a:rPr lang="de-AT" dirty="0"/>
              <a:t> wird bereits verwendet</a:t>
            </a:r>
          </a:p>
          <a:p>
            <a:r>
              <a:rPr lang="de-AT" dirty="0"/>
              <a:t>Tunnel explizit anlegen</a:t>
            </a:r>
          </a:p>
        </p:txBody>
      </p:sp>
      <p:pic>
        <p:nvPicPr>
          <p:cNvPr id="5" name="Grafik 4" descr="Ein Bild, das Text, Screenshot, Schrift, Reihe enthält.&#10;&#10;KI-generierte Inhalte können fehlerhaft sein.">
            <a:extLst>
              <a:ext uri="{FF2B5EF4-FFF2-40B4-BE49-F238E27FC236}">
                <a16:creationId xmlns:a16="http://schemas.microsoft.com/office/drawing/2014/main" id="{5F0DF8D1-0058-DC87-1360-5387B8BF7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2492896"/>
            <a:ext cx="9029311" cy="1224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5098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208D28-B63A-8C16-5E3C-5277ABFE6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Create Tunnel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964A807-CE92-5EE9-8961-FBF4BB0C8A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Tunnel explizit anlegen</a:t>
            </a:r>
          </a:p>
          <a:p>
            <a:r>
              <a:rPr lang="de-AT" dirty="0"/>
              <a:t>Networks - </a:t>
            </a:r>
            <a:r>
              <a:rPr lang="de-AT" dirty="0" err="1"/>
              <a:t>Connectors</a:t>
            </a:r>
            <a:endParaRPr lang="de-AT" dirty="0"/>
          </a:p>
          <a:p>
            <a:endParaRPr lang="de-AT" dirty="0"/>
          </a:p>
        </p:txBody>
      </p:sp>
      <p:pic>
        <p:nvPicPr>
          <p:cNvPr id="5" name="Grafik 4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C3A5C728-E9B6-ECCF-7E9E-ABDA16F26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20888"/>
            <a:ext cx="8050088" cy="362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7613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D124FB-77D6-4321-97A3-AAA537AA4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Token in Editor kopieren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710DC08-F95E-3B57-BE0D-E4FB387211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481FC5DE-A0FA-4966-45CE-690B6D3A6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68730"/>
            <a:ext cx="9144000" cy="3320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2778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710ADB-EDD5-FF5E-5752-47406CCB8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Tunnel ist angelegt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24D7C03-D36B-A521-5EBC-D5BBDE02CA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7504" y="1196752"/>
            <a:ext cx="8207375" cy="4608165"/>
          </a:xfrm>
        </p:spPr>
        <p:txBody>
          <a:bodyPr/>
          <a:lstStyle/>
          <a:p>
            <a:r>
              <a:rPr lang="de-AT" dirty="0"/>
              <a:t>Networks – </a:t>
            </a:r>
            <a:r>
              <a:rPr lang="de-AT" dirty="0" err="1"/>
              <a:t>Connectors</a:t>
            </a:r>
            <a:r>
              <a:rPr lang="de-AT" dirty="0"/>
              <a:t> 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5ED76BC-8669-8531-0A33-5E281B9FF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38679"/>
            <a:ext cx="9144000" cy="2980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2004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6CC87E-8C7F-058A-9BE2-E502C23DD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Edit Connector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50A5229-5CCC-F40F-5527-DE3C58FA9D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D606FDE-F27D-5222-2C0C-2A03FC53DD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1932"/>
            <a:ext cx="9144000" cy="4926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2229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FD7823-E386-3D8F-B2F3-BEB24B5E3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Cloudflared</a:t>
            </a:r>
            <a:r>
              <a:rPr lang="de-AT" dirty="0"/>
              <a:t> - App konfigurieren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B0871A4-FEC7-57B6-0DCC-B950BED3D2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DD037F1E-6C08-AE00-3291-BFD9406D5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2225779"/>
            <a:ext cx="6615396" cy="4509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1572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DDB15-FE0F-C371-194C-89F9AFE5B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HA - App </a:t>
            </a:r>
            <a:r>
              <a:rPr lang="de-AT" dirty="0" err="1"/>
              <a:t>Cloudflared</a:t>
            </a:r>
            <a:r>
              <a:rPr lang="de-AT" dirty="0"/>
              <a:t> deinstallieren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DB323EF-C54E-3945-4331-AAA7486D9E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1052736"/>
            <a:ext cx="8207375" cy="4608165"/>
          </a:xfrm>
        </p:spPr>
        <p:txBody>
          <a:bodyPr/>
          <a:lstStyle/>
          <a:p>
            <a:r>
              <a:rPr lang="de-AT" dirty="0"/>
              <a:t>Sonst bleiben Tunnel-Leichen übrig</a:t>
            </a:r>
          </a:p>
          <a:p>
            <a:r>
              <a:rPr lang="de-AT" dirty="0"/>
              <a:t>Auch die Daten löschen über Samba</a:t>
            </a:r>
          </a:p>
        </p:txBody>
      </p:sp>
      <p:pic>
        <p:nvPicPr>
          <p:cNvPr id="5" name="Grafik 4" descr="Ein Bild, das Text, Screenshot, Software, Webseite enthält.&#10;&#10;KI-generierte Inhalte können fehlerhaft sein.">
            <a:extLst>
              <a:ext uri="{FF2B5EF4-FFF2-40B4-BE49-F238E27FC236}">
                <a16:creationId xmlns:a16="http://schemas.microsoft.com/office/drawing/2014/main" id="{3CC1BF26-A9BB-9ABA-A978-F63E826072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48880"/>
            <a:ext cx="809625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2329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C41695-7CF9-3485-E0CC-E46321277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Kontrolle des </a:t>
            </a:r>
            <a:r>
              <a:rPr lang="de-AT" dirty="0" err="1"/>
              <a:t>add_configs</a:t>
            </a:r>
            <a:r>
              <a:rPr lang="de-AT" dirty="0"/>
              <a:t>-Ordners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09A167A-9A36-81C1-57CE-29BF459189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Kein </a:t>
            </a:r>
            <a:r>
              <a:rPr lang="de-AT" dirty="0" err="1"/>
              <a:t>Cloudflareverzeichnis</a:t>
            </a:r>
            <a:r>
              <a:rPr lang="de-AT" dirty="0"/>
              <a:t> mehr</a:t>
            </a:r>
          </a:p>
        </p:txBody>
      </p:sp>
      <p:pic>
        <p:nvPicPr>
          <p:cNvPr id="5" name="Grafik 4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F71235BA-DFA5-7F20-AB61-E649BB3B79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742" y="2168860"/>
            <a:ext cx="9521058" cy="252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3620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AC233C-3650-E513-7324-148251726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HA – Proxy Zugriff erlauben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879527C-33EA-CE79-366F-7881E260A5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881AB67-CFC4-F4F6-ED55-EED23D56E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1268050"/>
            <a:ext cx="7060185" cy="5184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3879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B9700D-F6AA-DF9E-9E1B-2C12CAA3C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HA – </a:t>
            </a:r>
            <a:r>
              <a:rPr lang="de-AT" dirty="0" err="1"/>
              <a:t>Cloudflared</a:t>
            </a:r>
            <a:r>
              <a:rPr lang="de-AT" dirty="0"/>
              <a:t>-App neu installieren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66D10B5-5249-1E58-1E15-0454175E60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 err="1"/>
              <a:t>Config</a:t>
            </a:r>
            <a:r>
              <a:rPr lang="de-AT" dirty="0"/>
              <a:t> als YAML</a:t>
            </a:r>
          </a:p>
          <a:p>
            <a:r>
              <a:rPr lang="de-AT" dirty="0"/>
              <a:t>Tunneltoken eintragen</a:t>
            </a:r>
          </a:p>
        </p:txBody>
      </p:sp>
      <p:pic>
        <p:nvPicPr>
          <p:cNvPr id="5" name="Grafik 4" descr="Ein Bild, das Text, Screenshot, Schrift, Software enthält.&#10;&#10;KI-generierte Inhalte können fehlerhaft sein.">
            <a:extLst>
              <a:ext uri="{FF2B5EF4-FFF2-40B4-BE49-F238E27FC236}">
                <a16:creationId xmlns:a16="http://schemas.microsoft.com/office/drawing/2014/main" id="{6EBEC241-71C4-2110-4EFB-0095912E0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2876550"/>
            <a:ext cx="8096250" cy="300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2764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91B33F-521A-98B2-AA49-80C13ED0E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App starten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1CA8E9C-861D-C11A-CF74-C9B943F7E3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Protokoll auf Fehler überprüfen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BE0D666-3327-C8F9-1850-8C0DED52E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888" y="2089521"/>
            <a:ext cx="6588224" cy="4643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2739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1206F9-742A-3629-803D-60AC93DF0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Zugriff funktioniert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7CC09A5-C603-5E3A-7C3E-D98EF90A61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958DBA1-4178-8F8D-58A6-003BFA13DA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287" y="996555"/>
            <a:ext cx="5305425" cy="561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587610"/>
      </p:ext>
    </p:extLst>
  </p:cSld>
  <p:clrMapOvr>
    <a:masterClrMapping/>
  </p:clrMapOvr>
</p:sld>
</file>

<file path=ppt/theme/theme1.xml><?xml version="1.0" encoding="utf-8"?>
<a:theme xmlns:a="http://schemas.openxmlformats.org/drawingml/2006/main" name="2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338</Words>
  <Application>Microsoft Office PowerPoint</Application>
  <PresentationFormat>Bildschirmpräsentation (4:3)</PresentationFormat>
  <Paragraphs>77</Paragraphs>
  <Slides>29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29</vt:i4>
      </vt:variant>
    </vt:vector>
  </HeadingPairs>
  <TitlesOfParts>
    <vt:vector size="34" baseType="lpstr">
      <vt:lpstr>Arial</vt:lpstr>
      <vt:lpstr>Calibri</vt:lpstr>
      <vt:lpstr>Symbol</vt:lpstr>
      <vt:lpstr>Wingdings</vt:lpstr>
      <vt:lpstr>2_Larissa</vt:lpstr>
      <vt:lpstr>Cloudflare - Überblick</vt:lpstr>
      <vt:lpstr>n8n ist viel einfacher mit Cloudflare</vt:lpstr>
      <vt:lpstr>Domain registrieren</vt:lpstr>
      <vt:lpstr>Cloudflare – Domain konfigurieren</vt:lpstr>
      <vt:lpstr>HA - CloudFlared-App</vt:lpstr>
      <vt:lpstr>HA auf Subdomain registrieren</vt:lpstr>
      <vt:lpstr>Mehrere Hosts sind kein Problem</vt:lpstr>
      <vt:lpstr>Proxies zulassen</vt:lpstr>
      <vt:lpstr>AddOn starten</vt:lpstr>
      <vt:lpstr>Link verwenden  Autorisieren</vt:lpstr>
      <vt:lpstr>Rückmeldung in HA</vt:lpstr>
      <vt:lpstr>Über Internet erreichbar</vt:lpstr>
      <vt:lpstr>Zugriff nur aus Österreich möglich</vt:lpstr>
      <vt:lpstr>PowerPoint-Präsentation</vt:lpstr>
      <vt:lpstr>DNS Propagation Checker</vt:lpstr>
      <vt:lpstr>Instanz ist im eigenen Netz nicht erreichbar </vt:lpstr>
      <vt:lpstr>Weitere HA-Instanzen registrieren</vt:lpstr>
      <vt:lpstr>AddOn-Start meldet Fehler</vt:lpstr>
      <vt:lpstr>Create Tunnel</vt:lpstr>
      <vt:lpstr>Token in Editor kopieren</vt:lpstr>
      <vt:lpstr>Tunnel ist angelegt</vt:lpstr>
      <vt:lpstr>Edit Connector</vt:lpstr>
      <vt:lpstr>Cloudflared - App konfigurieren</vt:lpstr>
      <vt:lpstr>HA - App Cloudflared deinstallieren</vt:lpstr>
      <vt:lpstr>Kontrolle des add_configs-Ordners</vt:lpstr>
      <vt:lpstr>HA – Proxy Zugriff erlauben</vt:lpstr>
      <vt:lpstr>HA – Cloudflared-App neu installieren</vt:lpstr>
      <vt:lpstr>App starten</vt:lpstr>
      <vt:lpstr>Zugriff funktioniert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Köck</dc:creator>
  <cp:lastModifiedBy>Gerald Köck</cp:lastModifiedBy>
  <cp:revision>880</cp:revision>
  <dcterms:created xsi:type="dcterms:W3CDTF">2011-08-18T07:37:01Z</dcterms:created>
  <dcterms:modified xsi:type="dcterms:W3CDTF">2026-03-03T09:39:15Z</dcterms:modified>
</cp:coreProperties>
</file>